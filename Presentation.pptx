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libri (MS)" charset="1" panose="020F0502020204030204"/>
      <p:regular r:id="rId11"/>
    </p:embeddedFon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  <p:embeddedFont>
      <p:font typeface="Arial" charset="1" panose="020B0604020202020204"/>
      <p:regular r:id="rId14"/>
    </p:embeddedFont>
    <p:embeddedFont>
      <p:font typeface="Arimo" charset="1" panose="020B0604020202020204"/>
      <p:regular r:id="rId15"/>
    </p:embeddedFont>
    <p:embeddedFont>
      <p:font typeface="Calibri (MS) Bold" charset="1" panose="020F0702030404030204"/>
      <p:regular r:id="rId16"/>
    </p:embeddedFont>
    <p:embeddedFont>
      <p:font typeface="Arial Bold" charset="1" panose="020B07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1214" y="4310024"/>
            <a:ext cx="5479685" cy="41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(SIH PROBLEM NUMBER – 1596)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75330" y="176498"/>
            <a:ext cx="3945846" cy="1905733"/>
            <a:chOff x="0" y="0"/>
            <a:chExt cx="5261127" cy="25409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1102" cy="2541016"/>
            </a:xfrm>
            <a:custGeom>
              <a:avLst/>
              <a:gdLst/>
              <a:ahLst/>
              <a:cxnLst/>
              <a:rect r="r" b="b" t="t" l="l"/>
              <a:pathLst>
                <a:path h="2541016" w="5261102">
                  <a:moveTo>
                    <a:pt x="0" y="0"/>
                  </a:moveTo>
                  <a:lnTo>
                    <a:pt x="5261102" y="0"/>
                  </a:lnTo>
                  <a:lnTo>
                    <a:pt x="5261102" y="2541016"/>
                  </a:lnTo>
                  <a:lnTo>
                    <a:pt x="0" y="2541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664488" y="322097"/>
            <a:ext cx="13427212" cy="135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Kolhapur Institute of Technology’s College of Engineering       (Empowered Autonomous)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8537" y="3369107"/>
            <a:ext cx="12342371" cy="89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 Project Phase-II Presentation on :-    “ENHANCE THE PRIMARY SECTOR 					OF INDIA-AGRICULTURE”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9701" y="6808422"/>
            <a:ext cx="15940145" cy="286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784" indent="-276892" lvl="1">
              <a:lnSpc>
                <a:spcPts val="2643"/>
              </a:lnSpc>
              <a:buFont typeface="Arial"/>
              <a:buChar char="•"/>
            </a:pPr>
            <a:r>
              <a:rPr lang="en-US" b="true" sz="30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						Under Guidance of: </a:t>
            </a:r>
          </a:p>
          <a:p>
            <a:pPr algn="l" marL="1147286" indent="-382429" lvl="2">
              <a:lnSpc>
                <a:spcPts val="2203"/>
              </a:lnSpc>
              <a:buFont typeface="Arial"/>
              <a:buChar char="⚬"/>
            </a:pPr>
            <a:r>
              <a:rPr lang="en-US" b="true" sz="25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Pranav							</a:t>
            </a:r>
            <a:r>
              <a:rPr lang="en-US" sz="2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K.M.Tamboli</a:t>
            </a:r>
          </a:p>
          <a:p>
            <a:pPr algn="l" marL="1147286" indent="-382429" lvl="2">
              <a:lnSpc>
                <a:spcPts val="2203"/>
              </a:lnSpc>
              <a:buFont typeface="Arial"/>
              <a:buChar char="⚬"/>
            </a:pPr>
            <a:r>
              <a:rPr lang="en-US" b="true" sz="25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Sham 							</a:t>
            </a:r>
            <a:r>
              <a:rPr lang="en-US" sz="2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Sharvari chavan</a:t>
            </a:r>
          </a:p>
          <a:p>
            <a:pPr algn="l" marL="1147286" indent="-382429" lvl="2">
              <a:lnSpc>
                <a:spcPts val="2203"/>
              </a:lnSpc>
              <a:buFont typeface="Arial"/>
              <a:buChar char="⚬"/>
            </a:pPr>
            <a:r>
              <a:rPr lang="en-US" b="true" sz="25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Sanket</a:t>
            </a:r>
          </a:p>
          <a:p>
            <a:pPr algn="l" marL="1147286" indent="-382429" lvl="2">
              <a:lnSpc>
                <a:spcPts val="2203"/>
              </a:lnSpc>
              <a:buFont typeface="Arial"/>
              <a:buChar char="⚬"/>
            </a:pPr>
            <a:r>
              <a:rPr lang="en-US" b="true" sz="25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Tanish</a:t>
            </a:r>
          </a:p>
          <a:p>
            <a:pPr algn="l" marL="1147286" indent="-382429" lvl="2">
              <a:lnSpc>
                <a:spcPts val="2203"/>
              </a:lnSpc>
            </a:pPr>
          </a:p>
          <a:p>
            <a:pPr algn="l" marL="1606201" indent="-535400" lvl="2">
              <a:lnSpc>
                <a:spcPts val="3084"/>
              </a:lnSpc>
            </a:pPr>
            <a:r>
              <a:rPr lang="en-US" b="true" sz="357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	</a:t>
            </a:r>
          </a:p>
          <a:p>
            <a:pPr algn="l" marL="1147286" indent="-382429" lvl="2">
              <a:lnSpc>
                <a:spcPts val="2203"/>
              </a:lnSpc>
            </a:pPr>
          </a:p>
          <a:p>
            <a:pPr algn="l" marL="1147286" indent="-382429" lvl="2">
              <a:lnSpc>
                <a:spcPts val="2203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650" y="132731"/>
            <a:ext cx="8978665" cy="1139352"/>
            <a:chOff x="0" y="0"/>
            <a:chExt cx="11971553" cy="15191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71548" cy="1519130"/>
            </a:xfrm>
            <a:custGeom>
              <a:avLst/>
              <a:gdLst/>
              <a:ahLst/>
              <a:cxnLst/>
              <a:rect r="r" b="b" t="t" l="l"/>
              <a:pathLst>
                <a:path h="1519130" w="11971548">
                  <a:moveTo>
                    <a:pt x="0" y="0"/>
                  </a:moveTo>
                  <a:lnTo>
                    <a:pt x="11971548" y="0"/>
                  </a:lnTo>
                  <a:lnTo>
                    <a:pt x="11971548" y="1519130"/>
                  </a:lnTo>
                  <a:lnTo>
                    <a:pt x="0" y="15191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552" r="0" b="-10355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971553" cy="149056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GROUP MEMBERS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27698" y="2214458"/>
            <a:ext cx="8759209" cy="433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SHAM	-	23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SANKET	-	37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TANISH	-	18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PRANAV	-	28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71727" y="1451877"/>
            <a:ext cx="5454520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Name 		Roll No.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9307" y="25698"/>
            <a:ext cx="8240963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LITERATURE REVIEW</a:t>
            </a:r>
          </a:p>
        </p:txBody>
      </p:sp>
      <p:sp>
        <p:nvSpPr>
          <p:cNvPr name="AutoShape 3" id="3"/>
          <p:cNvSpPr/>
          <p:nvPr/>
        </p:nvSpPr>
        <p:spPr>
          <a:xfrm rot="-8100000">
            <a:off x="1279188" y="9589970"/>
            <a:ext cx="68370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-12240">
            <a:off x="590569" y="9599676"/>
            <a:ext cx="8130511" cy="0"/>
          </a:xfrm>
          <a:prstGeom prst="line">
            <a:avLst/>
          </a:prstGeom>
          <a:ln cap="rnd" w="9525">
            <a:solidFill>
              <a:srgbClr val="44546A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91328" y="1084094"/>
          <a:ext cx="17830800" cy="8191500"/>
        </p:xfrm>
        <a:graphic>
          <a:graphicData uri="http://schemas.openxmlformats.org/drawingml/2006/table">
            <a:tbl>
              <a:tblPr/>
              <a:tblGrid>
                <a:gridCol w="1194765"/>
                <a:gridCol w="1940348"/>
                <a:gridCol w="2452056"/>
                <a:gridCol w="2265072"/>
                <a:gridCol w="2151510"/>
                <a:gridCol w="3189775"/>
                <a:gridCol w="2342528"/>
                <a:gridCol w="2294746"/>
              </a:tblGrid>
              <a:tr h="9048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Serial No.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Year of Publication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Title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Authors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Publications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Methododlogy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QOS Parameters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Limitations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16803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March 2024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Design of a real‑time crime monitoring system using deep learning techniques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Md. Muktadir Mukto, Mahamudul Hasan, Md. Maiyaz Al Mahmud, Ikramul Haque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Intelligent Systems with Applications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Weapon detection using YOLOv5Violence detection using MobileNetv2Face recognition using LBPH (Local Binary Pattern Histogram)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Weapon detection: &gt; 80% accuracy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Violence detection: ~95% accuracy</a:t>
                      </a:r>
                    </a:p>
                    <a:p>
                      <a:pPr algn="l">
                        <a:lnSpc>
                          <a:spcPts val="216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Face recognition: ~97% accuracy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 dependencies,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Computing requirements</a:t>
                      </a: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14218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2023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Design of a Real‑Time Crime Monitoring System using Machine Learning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Machine learning / deep learning models for detection. Real‑time alerts or classification of criminal behaviour.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detection rate, precision, 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Model dependence on training data quality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19388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2018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Deep Learning Based Surveillance System for Open Critical Areas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Francesco TurchiniLorenzo SeidenariTiberio UricchioAlberto Del Bimbo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Detecting objects (people, vehicles, etc.) using deep learning models. Tracking their movement through video streams. Counting objects and identifying anomalous behavior.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Object counting and detection accuracy in real‑world challenges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Dependence on video quality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2456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2019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Proposed System for Criminal Detection and Recognition on CCTV Data using Cloud and Machine Learning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Samit Shirsat, Aakash Naik, Darshan Tamse, Jaysingh Yadav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2019 International Conference on Vision Towards Emerging Trends in Communication and Networking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The system uses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CCTV cameras and OpenCV-based machine learning algorithms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to detect and recognize faces. The detected faces are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matched with a criminal database stored in the cloud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to identify criminals automatically.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The system solves the problem of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slow and inefficient manual monitoring of CCTV footage.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The system’s accuracy depends on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lighting conditions and image quality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of CCTV footage.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68358" y="402534"/>
          <a:ext cx="17411700" cy="4229100"/>
        </p:xfrm>
        <a:graphic>
          <a:graphicData uri="http://schemas.openxmlformats.org/drawingml/2006/table">
            <a:tbl>
              <a:tblPr/>
              <a:tblGrid>
                <a:gridCol w="816405"/>
                <a:gridCol w="1261717"/>
                <a:gridCol w="2642184"/>
                <a:gridCol w="2167185"/>
                <a:gridCol w="2196872"/>
                <a:gridCol w="3087496"/>
                <a:gridCol w="2538280"/>
                <a:gridCol w="2701560"/>
              </a:tblGrid>
              <a:tr h="187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2025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</a:t>
                      </a: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r>
                        <a:rPr lang="en-US" b="true" sz="180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Lightweight Real-Time CCTV Surveillance Framework for the Education Sector Using Machine Learning.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Naeem Ahmed, Abdullah Alqahtani, Fahad Alotaibi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Journal of Advances in Information Technology (JAIT)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Uses CCTV with machine learning (Haar Cascade, FaceNet, SVM) to detect and recognize people in real time.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Provides automated real-time surveillance and improves security by detecting unauthorized persons quickly.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 may reduce due to poor lighting or image quality and requires good dataset and computing resources.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187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2021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Deep Learning Based Smart Surveillance System for Suspicious Activity Detection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A. K. Singh, P. K. Singh, and other co-authors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Materials Today: Proceedings (Elsevier / ScienceDirect)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Uses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deep learning to analyze CCTV video frames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and detect suspicious activities automatically.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Reduces </a:t>
                      </a:r>
                      <a:r>
                        <a:rPr lang="en-US" b="true" sz="18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manual CCTV monitoring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and enables </a:t>
                      </a:r>
                      <a:r>
                        <a:rPr lang="en-US" b="true" sz="18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automatic detection of suspicious behavior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Performance may reduce due to </a:t>
                      </a:r>
                      <a:r>
                        <a:rPr lang="en-US" b="true" sz="18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poor video quality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and requires </a:t>
                      </a:r>
                      <a:r>
                        <a:rPr lang="en-US" b="true" sz="18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large datasets and high computation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13972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2021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Design of an Intelligent Video Surveillance System for Crime Prevention: Applying Deep Learning Technology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Chang-Soo Sung, Joo-Yeon Park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Multimedia Tools and Applications (Springer)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Uses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deep learning with CCTV video analysis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to automatically detect suspicious activities and crimes in real time.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Reduces </a:t>
                      </a:r>
                      <a:r>
                        <a:rPr lang="en-US" b="true" sz="18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manual CCTV monitoring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and enables </a:t>
                      </a:r>
                      <a:r>
                        <a:rPr lang="en-US" b="true" sz="18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automatic crime detection for faster response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Performance may be affected by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complex environments and video quality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, and deep learning models require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large training data and high computation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13972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AI-Based Intelligent Video Surveillance System for Security Monitoring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A. Al-Ghamdi, M. Al-Harbi, and other co-authors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Abu Dhabi International Petroleum Exhibition &amp; Conference (ADIPEC)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Uses </a:t>
                      </a:r>
                      <a:r>
                        <a:rPr lang="en-US" b="true" sz="18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AI and computer vision to analyze CCTV video streams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and detect suspicious activities automatically.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Provides </a:t>
                      </a:r>
                      <a:r>
                        <a:rPr lang="en-US" b="true" sz="18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real-time automated surveillance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and reduces </a:t>
                      </a:r>
                      <a:r>
                        <a:rPr lang="en-US" b="true" sz="18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manual monitoring effort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Performance may depend on </a:t>
                      </a:r>
                      <a:r>
                        <a:rPr lang="en-US" b="true" sz="1800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video quality and computational resources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13972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Design of a Real-Time Crime Monitoring System Using Deep Learning Techniques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Md. Muktadir Mukto, Mahamudul Hasan, Md. Maiyaz Al Mahmud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Intelligent Systems with Applications (Elsevier / ScienceDirect)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Uses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deep learning with CCTV surveillance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to detect crimes in real time through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weapon detection, violence detection, and face recognition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Automates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crime monitoring and reduces human CCTV supervision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by detecting criminal activities instantly.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Accuracy may depend on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dataset quality and computational resources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for deep learning models.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2931" y="592455"/>
            <a:ext cx="2646402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OBJECTIVES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65882" y="3385229"/>
            <a:ext cx="11084243" cy="67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4"/>
              </a:lnSpc>
              <a:spcBef>
                <a:spcPct val="0"/>
              </a:spcBef>
            </a:pPr>
            <a:r>
              <a:rPr lang="en-US" sz="460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2] Enable Attribute-Based Video Search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6868" y="4674618"/>
            <a:ext cx="14976628" cy="67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4"/>
              </a:lnSpc>
              <a:spcBef>
                <a:spcPct val="0"/>
              </a:spcBef>
            </a:pPr>
            <a:r>
              <a:rPr lang="en-US" sz="460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3] Convert Video Frames into Vector Representations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868" y="8588036"/>
            <a:ext cx="12633253" cy="67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4"/>
              </a:lnSpc>
              <a:spcBef>
                <a:spcPct val="0"/>
              </a:spcBef>
            </a:pPr>
            <a:r>
              <a:rPr lang="en-US" sz="460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6] Develop a User-Friendly Search Interface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6868" y="5992582"/>
            <a:ext cx="10826075" cy="67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4"/>
              </a:lnSpc>
              <a:spcBef>
                <a:spcPct val="0"/>
              </a:spcBef>
            </a:pPr>
            <a:r>
              <a:rPr lang="en-US" sz="460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4] Create Timestamp-Based Indexing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6868" y="7283528"/>
            <a:ext cx="13804941" cy="67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4"/>
              </a:lnSpc>
              <a:spcBef>
                <a:spcPct val="0"/>
              </a:spcBef>
            </a:pPr>
            <a:r>
              <a:rPr lang="en-US" sz="460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5] Reduce Time Required for Video Investigation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6868" y="2067265"/>
            <a:ext cx="9833120" cy="67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4"/>
              </a:lnSpc>
              <a:spcBef>
                <a:spcPct val="0"/>
              </a:spcBef>
            </a:pPr>
            <a:r>
              <a:rPr lang="en-US" sz="460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1] Automate CCTV Video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DAHDjtTG3ho</dc:identifier>
  <dcterms:modified xsi:type="dcterms:W3CDTF">2011-08-01T06:04:30Z</dcterms:modified>
  <cp:revision>1</cp:revision>
  <dc:title>Presentation.pptx</dc:title>
</cp:coreProperties>
</file>