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60" r:id="rId6"/>
    <p:sldId id="258" r:id="rId7"/>
    <p:sldId id="263" r:id="rId8"/>
    <p:sldId id="268" r:id="rId9"/>
    <p:sldId id="267" r:id="rId10"/>
    <p:sldId id="266"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987" autoAdjust="0"/>
  </p:normalViewPr>
  <p:slideViewPr>
    <p:cSldViewPr snapToGrid="0">
      <p:cViewPr varScale="1">
        <p:scale>
          <a:sx n="83" d="100"/>
          <a:sy n="83" d="100"/>
        </p:scale>
        <p:origin x="64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DC3E-E948-11F6-5D35-C0CF58ACD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FC7E137-D159-1A54-914F-262F2BE7C6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2C633C-85DD-BD11-CFB4-200845854057}"/>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5" name="Footer Placeholder 4">
            <a:extLst>
              <a:ext uri="{FF2B5EF4-FFF2-40B4-BE49-F238E27FC236}">
                <a16:creationId xmlns:a16="http://schemas.microsoft.com/office/drawing/2014/main" id="{9CDEEB8C-18C9-027E-274E-35144C5F01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AA4877-9770-B62A-8126-504E358B1190}"/>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258483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636A7-73F4-BAB8-1990-E380906502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EE7CB1-5133-C042-85AC-D7E241F876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6C9E56-8F7F-9C33-4B24-E9F7537E02E2}"/>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5" name="Footer Placeholder 4">
            <a:extLst>
              <a:ext uri="{FF2B5EF4-FFF2-40B4-BE49-F238E27FC236}">
                <a16:creationId xmlns:a16="http://schemas.microsoft.com/office/drawing/2014/main" id="{16016EBD-F9C0-B1DF-C0CF-2DC4B22B50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47AC60-16BD-EB53-16D4-9A41F058D3E4}"/>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2669695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23BAA-173F-93B8-1563-B4059A813D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7B8DF31-617F-0E30-5C8E-59D9302E40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E965AE-C1AA-DE54-8830-02BFC49C45A9}"/>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5" name="Footer Placeholder 4">
            <a:extLst>
              <a:ext uri="{FF2B5EF4-FFF2-40B4-BE49-F238E27FC236}">
                <a16:creationId xmlns:a16="http://schemas.microsoft.com/office/drawing/2014/main" id="{A893821E-63FB-BE33-03EC-9DEAE80988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2FF673-7C31-CEB6-468D-B8A20DD40757}"/>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3941166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2FF1-0DC8-1BAC-6739-ED2EF10FC6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AECCB9-D9D3-C3DE-E364-7B5D60DA51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3FFA10-02E7-73EB-CFB3-58D0D2148D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DC6A5E-1D60-4666-3B5C-58A2CDC9D69B}"/>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6" name="Footer Placeholder 5">
            <a:extLst>
              <a:ext uri="{FF2B5EF4-FFF2-40B4-BE49-F238E27FC236}">
                <a16:creationId xmlns:a16="http://schemas.microsoft.com/office/drawing/2014/main" id="{BD9CF8EA-8356-0ECF-CA4B-E89C0F2123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9E0129-BB9C-6045-4877-5153BFB83BD5}"/>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441778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94CDA-2215-BFD9-9B9E-C932AC1722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71FBDD-DAA8-6142-50F5-62D7CEEBD5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933089-9FDF-22B0-C9AD-DE577767E0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D9B5C8-E37F-13B7-F16B-799C29459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0F83CB-AEE6-D416-EE44-493A2B2E27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7BB024-6746-5AA3-CC1D-8FD52661B910}"/>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8" name="Footer Placeholder 7">
            <a:extLst>
              <a:ext uri="{FF2B5EF4-FFF2-40B4-BE49-F238E27FC236}">
                <a16:creationId xmlns:a16="http://schemas.microsoft.com/office/drawing/2014/main" id="{C9D02109-EEFF-8726-F890-E3E64845BB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75B603-57EF-B40D-C4D3-FF97FD784C04}"/>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1444700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128F-ED2D-D913-2D1D-0A235A01E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EAFB4D-C872-95AA-A01B-EF94B920419D}"/>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4" name="Footer Placeholder 3">
            <a:extLst>
              <a:ext uri="{FF2B5EF4-FFF2-40B4-BE49-F238E27FC236}">
                <a16:creationId xmlns:a16="http://schemas.microsoft.com/office/drawing/2014/main" id="{80A32822-7E5E-CB7B-3C4F-8D537F4FAA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9CBAC8-BFE2-C1ED-D97D-40126E0C62B5}"/>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3275004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07B69A-A9D3-0085-E257-F93E7F7700AE}"/>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3" name="Footer Placeholder 2">
            <a:extLst>
              <a:ext uri="{FF2B5EF4-FFF2-40B4-BE49-F238E27FC236}">
                <a16:creationId xmlns:a16="http://schemas.microsoft.com/office/drawing/2014/main" id="{56D29C5A-87B1-898A-CEE1-AD4C5A2D1F8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256B1A-2486-5975-ED86-BE30047721A3}"/>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4025793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F4C9-D5AB-77B7-03E8-971DDDA9C9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393B62-5CFA-F683-F31B-E86A3CCDA3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297D02-9D55-9C34-06B3-8F06D74BB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2991F3-9AC4-902E-62B5-ED32BCC2A32F}"/>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6" name="Footer Placeholder 5">
            <a:extLst>
              <a:ext uri="{FF2B5EF4-FFF2-40B4-BE49-F238E27FC236}">
                <a16:creationId xmlns:a16="http://schemas.microsoft.com/office/drawing/2014/main" id="{5D794E44-80F9-E6F7-4A02-99CE5BF3C1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8D6D57-12A0-5715-7F7F-CE02EB4B9A42}"/>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2562056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F5FD0-5131-586E-A6D6-A1BE1FED7D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3C93B2-FB5B-3609-0B8D-5CB89312EB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0A84668-A2ED-AEA3-2257-340DEC358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633C0-4BBF-EF7D-DC70-8E8AB348C5EB}"/>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6" name="Footer Placeholder 5">
            <a:extLst>
              <a:ext uri="{FF2B5EF4-FFF2-40B4-BE49-F238E27FC236}">
                <a16:creationId xmlns:a16="http://schemas.microsoft.com/office/drawing/2014/main" id="{764DDD23-9DF1-2934-3805-2C656A84CC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40C7C8-E4A5-E5DB-CB56-F69C4D6074EC}"/>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1996206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2D7D-4703-B650-2B71-8BC4701716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7E42B3-DF43-7ECB-EDDE-A1B18CCA87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86EBAD-E61A-8777-3386-4D9D0812EEB5}"/>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5" name="Footer Placeholder 4">
            <a:extLst>
              <a:ext uri="{FF2B5EF4-FFF2-40B4-BE49-F238E27FC236}">
                <a16:creationId xmlns:a16="http://schemas.microsoft.com/office/drawing/2014/main" id="{5A1C6CF5-1FDE-D1BC-C25E-B632C45A52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42E27E-813E-C104-CA37-C64D405D5DD1}"/>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4196200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D2BF7-0B55-5CDC-3D80-AB9697882C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B760F1-6752-5074-28BB-1BF17747EF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4356B4-9E61-3659-A9A4-E8F0CCE2F163}"/>
              </a:ext>
            </a:extLst>
          </p:cNvPr>
          <p:cNvSpPr>
            <a:spLocks noGrp="1"/>
          </p:cNvSpPr>
          <p:nvPr>
            <p:ph type="dt" sz="half" idx="10"/>
          </p:nvPr>
        </p:nvSpPr>
        <p:spPr/>
        <p:txBody>
          <a:bodyPr/>
          <a:lstStyle/>
          <a:p>
            <a:fld id="{D23C4137-D3A0-4597-A29B-FC8244A74A50}" type="datetimeFigureOut">
              <a:rPr lang="en-IN" smtClean="0"/>
              <a:t>24-04-2026</a:t>
            </a:fld>
            <a:endParaRPr lang="en-IN"/>
          </a:p>
        </p:txBody>
      </p:sp>
      <p:sp>
        <p:nvSpPr>
          <p:cNvPr id="5" name="Footer Placeholder 4">
            <a:extLst>
              <a:ext uri="{FF2B5EF4-FFF2-40B4-BE49-F238E27FC236}">
                <a16:creationId xmlns:a16="http://schemas.microsoft.com/office/drawing/2014/main" id="{0246E8FD-5CC1-3FCC-F5D1-517F5063D2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FA6CD0-9512-76CF-98EF-577A156CA0AD}"/>
              </a:ext>
            </a:extLst>
          </p:cNvPr>
          <p:cNvSpPr>
            <a:spLocks noGrp="1"/>
          </p:cNvSpPr>
          <p:nvPr>
            <p:ph type="sldNum" sz="quarter" idx="12"/>
          </p:nvPr>
        </p:nvSpPr>
        <p:spPr/>
        <p:txBody>
          <a:bodyPr/>
          <a:lstStyle/>
          <a:p>
            <a:fld id="{0B7CF64D-B9A4-4D72-9B1A-717CC39DFB53}" type="slidenum">
              <a:rPr lang="en-IN" smtClean="0"/>
              <a:t>‹#›</a:t>
            </a:fld>
            <a:endParaRPr lang="en-IN"/>
          </a:p>
        </p:txBody>
      </p:sp>
    </p:spTree>
    <p:extLst>
      <p:ext uri="{BB962C8B-B14F-4D97-AF65-F5344CB8AC3E}">
        <p14:creationId xmlns:p14="http://schemas.microsoft.com/office/powerpoint/2010/main" val="1483046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2DE938-F5CF-FD41-01D3-048317714E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1FFC1A-9D20-10A5-8248-21DE51AE68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FDC49F-8260-93E2-9540-C7EE0BBBD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3C4137-D3A0-4597-A29B-FC8244A74A50}" type="datetimeFigureOut">
              <a:rPr lang="en-IN" smtClean="0"/>
              <a:t>24-04-2026</a:t>
            </a:fld>
            <a:endParaRPr lang="en-IN"/>
          </a:p>
        </p:txBody>
      </p:sp>
      <p:sp>
        <p:nvSpPr>
          <p:cNvPr id="5" name="Footer Placeholder 4">
            <a:extLst>
              <a:ext uri="{FF2B5EF4-FFF2-40B4-BE49-F238E27FC236}">
                <a16:creationId xmlns:a16="http://schemas.microsoft.com/office/drawing/2014/main" id="{CDAD30FD-5024-7F84-FB6E-B7E32BD822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5B74D89-AC4B-19B2-B478-BA3D8DE608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7CF64D-B9A4-4D72-9B1A-717CC39DFB53}" type="slidenum">
              <a:rPr lang="en-IN" smtClean="0"/>
              <a:t>‹#›</a:t>
            </a:fld>
            <a:endParaRPr lang="en-IN"/>
          </a:p>
        </p:txBody>
      </p:sp>
    </p:spTree>
    <p:extLst>
      <p:ext uri="{BB962C8B-B14F-4D97-AF65-F5344CB8AC3E}">
        <p14:creationId xmlns:p14="http://schemas.microsoft.com/office/powerpoint/2010/main" val="3670760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abstract/document/9868085" TargetMode="External"/><Relationship Id="rId2" Type="http://schemas.openxmlformats.org/officeDocument/2006/relationships/hyperlink" Target="https://www.sciencedirect.com/science/article/pii/S2667305323001369" TargetMode="External"/><Relationship Id="rId1" Type="http://schemas.openxmlformats.org/officeDocument/2006/relationships/slideLayout" Target="../slideLayouts/slideLayout7.xml"/><Relationship Id="rId5" Type="http://schemas.openxmlformats.org/officeDocument/2006/relationships/hyperlink" Target="https://ieeexplore.ieee.org/abstract/document/8899441" TargetMode="External"/><Relationship Id="rId4" Type="http://schemas.openxmlformats.org/officeDocument/2006/relationships/hyperlink" Target="https://www.mdpi.com/2411-5134/3/4/69"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sciencedirect.com/science/article/pii/S2667305323001369" TargetMode="External"/><Relationship Id="rId2" Type="http://schemas.openxmlformats.org/officeDocument/2006/relationships/hyperlink" Target="https://www.researchgate.net/profile/Naeem-Ahmed-38/publication/394414937_A_Lightweight_Real-Time_CCTV_Surveillance_Framework_for_the_Education_Sector_Using_Machine_Learning/links/689748928a487c1ea6d97a66/A-Lightweight-Real-Time-CCTV-Surveillance-Framework-for-the-Education-Sector-Using-Machine-Learning.pdf"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383991-6683-000C-01DC-9FC2FCFBC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52" y="117668"/>
            <a:ext cx="2630562" cy="1270488"/>
          </a:xfrm>
          <a:prstGeom prst="rect">
            <a:avLst/>
          </a:prstGeom>
        </p:spPr>
      </p:pic>
      <p:sp>
        <p:nvSpPr>
          <p:cNvPr id="6" name="TextBox 5">
            <a:extLst>
              <a:ext uri="{FF2B5EF4-FFF2-40B4-BE49-F238E27FC236}">
                <a16:creationId xmlns:a16="http://schemas.microsoft.com/office/drawing/2014/main" id="{7388213F-CD22-2B22-4FB0-BD262F153E84}"/>
              </a:ext>
            </a:extLst>
          </p:cNvPr>
          <p:cNvSpPr txBox="1"/>
          <p:nvPr/>
        </p:nvSpPr>
        <p:spPr>
          <a:xfrm>
            <a:off x="3048698" y="196952"/>
            <a:ext cx="9073393" cy="954107"/>
          </a:xfrm>
          <a:prstGeom prst="rect">
            <a:avLst/>
          </a:prstGeom>
          <a:noFill/>
        </p:spPr>
        <p:txBody>
          <a:bodyPr wrap="square">
            <a:spAutoFit/>
          </a:bodyPr>
          <a:lstStyle/>
          <a:p>
            <a:r>
              <a:rPr lang="en-US" sz="2800" b="1" dirty="0">
                <a:latin typeface="Times New Roman" panose="02020603050405020304" pitchFamily="18" charset="0"/>
                <a:ea typeface="+mj-ea"/>
                <a:cs typeface="Times New Roman" panose="02020603050405020304" pitchFamily="18" charset="0"/>
              </a:rPr>
              <a:t>Kolhapur Institute of Technology’s College of Engineering       (Empowered Autonomous)</a:t>
            </a:r>
          </a:p>
        </p:txBody>
      </p:sp>
      <p:sp>
        <p:nvSpPr>
          <p:cNvPr id="8" name="Subtitle 2">
            <a:extLst>
              <a:ext uri="{FF2B5EF4-FFF2-40B4-BE49-F238E27FC236}">
                <a16:creationId xmlns:a16="http://schemas.microsoft.com/office/drawing/2014/main" id="{397BB2EF-CE1E-39C6-DE69-EEFB08509A09}"/>
              </a:ext>
            </a:extLst>
          </p:cNvPr>
          <p:cNvSpPr txBox="1">
            <a:spLocks/>
          </p:cNvSpPr>
          <p:nvPr/>
        </p:nvSpPr>
        <p:spPr>
          <a:xfrm>
            <a:off x="632175" y="4457667"/>
            <a:ext cx="10748682" cy="2019716"/>
          </a:xfrm>
          <a:prstGeom prst="rect">
            <a:avLst/>
          </a:prstGeom>
        </p:spPr>
        <p:txBody>
          <a:bodyPr numCol="1" anchor="t">
            <a:normAutofit fontScale="85000" lnSpcReduction="2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latin typeface="Times New Roman" panose="02020603050405020304" pitchFamily="18" charset="0"/>
                <a:ea typeface="+mj-ea"/>
                <a:cs typeface="Times New Roman" panose="02020603050405020304" pitchFamily="18" charset="0"/>
              </a:rPr>
              <a:t>Presented By:						Under Guidance of: </a:t>
            </a:r>
          </a:p>
          <a:p>
            <a:pPr lvl="1"/>
            <a:r>
              <a:rPr lang="en-US" sz="2000" b="1" dirty="0">
                <a:latin typeface="Times New Roman" panose="02020603050405020304" pitchFamily="18" charset="0"/>
                <a:ea typeface="+mj-ea"/>
                <a:cs typeface="Times New Roman" panose="02020603050405020304" pitchFamily="18" charset="0"/>
              </a:rPr>
              <a:t>Pranav							</a:t>
            </a:r>
            <a:r>
              <a:rPr lang="en-US" sz="2000" dirty="0">
                <a:latin typeface="Times New Roman" panose="02020603050405020304" pitchFamily="18" charset="0"/>
                <a:ea typeface="+mj-ea"/>
                <a:cs typeface="Times New Roman" panose="02020603050405020304" pitchFamily="18" charset="0"/>
              </a:rPr>
              <a:t>Mrs. </a:t>
            </a:r>
            <a:r>
              <a:rPr lang="en-US" sz="2000" dirty="0" err="1">
                <a:latin typeface="Times New Roman" panose="02020603050405020304" pitchFamily="18" charset="0"/>
                <a:ea typeface="+mj-ea"/>
                <a:cs typeface="Times New Roman" panose="02020603050405020304" pitchFamily="18" charset="0"/>
              </a:rPr>
              <a:t>K.M.Tamboli</a:t>
            </a:r>
            <a:endParaRPr lang="en-US" sz="1400" dirty="0">
              <a:latin typeface="Times New Roman" panose="02020603050405020304" pitchFamily="18" charset="0"/>
              <a:ea typeface="+mj-ea"/>
              <a:cs typeface="Times New Roman" panose="02020603050405020304" pitchFamily="18" charset="0"/>
            </a:endParaRPr>
          </a:p>
          <a:p>
            <a:pPr lvl="1"/>
            <a:r>
              <a:rPr lang="en-US" sz="2000" b="1" dirty="0">
                <a:latin typeface="Times New Roman" panose="02020603050405020304" pitchFamily="18" charset="0"/>
                <a:ea typeface="+mj-ea"/>
                <a:cs typeface="Times New Roman" panose="02020603050405020304" pitchFamily="18" charset="0"/>
              </a:rPr>
              <a:t>Sham 							</a:t>
            </a:r>
            <a:endParaRPr lang="en-US" sz="2000" dirty="0">
              <a:latin typeface="Times New Roman" panose="02020603050405020304" pitchFamily="18" charset="0"/>
              <a:ea typeface="+mj-ea"/>
              <a:cs typeface="Times New Roman" panose="02020603050405020304" pitchFamily="18" charset="0"/>
            </a:endParaRPr>
          </a:p>
          <a:p>
            <a:pPr lvl="1"/>
            <a:r>
              <a:rPr lang="en-US" sz="2000" b="1" dirty="0">
                <a:latin typeface="Times New Roman" panose="02020603050405020304" pitchFamily="18" charset="0"/>
                <a:ea typeface="+mj-ea"/>
                <a:cs typeface="Times New Roman" panose="02020603050405020304" pitchFamily="18" charset="0"/>
              </a:rPr>
              <a:t>Sanket</a:t>
            </a:r>
          </a:p>
          <a:p>
            <a:pPr lvl="1"/>
            <a:r>
              <a:rPr lang="en-US" sz="2000" b="1" dirty="0">
                <a:latin typeface="Times New Roman" panose="02020603050405020304" pitchFamily="18" charset="0"/>
                <a:ea typeface="+mj-ea"/>
                <a:cs typeface="Times New Roman" panose="02020603050405020304" pitchFamily="18" charset="0"/>
              </a:rPr>
              <a:t>Tanish</a:t>
            </a:r>
          </a:p>
          <a:p>
            <a:pPr marL="914400" lvl="2" indent="0">
              <a:buNone/>
            </a:pPr>
            <a:endParaRPr lang="en-US" sz="1600" b="1" dirty="0">
              <a:latin typeface="Times New Roman" panose="02020603050405020304" pitchFamily="18" charset="0"/>
              <a:ea typeface="+mj-ea"/>
              <a:cs typeface="Times New Roman" panose="02020603050405020304" pitchFamily="18" charset="0"/>
            </a:endParaRPr>
          </a:p>
          <a:p>
            <a:pPr marL="0" indent="0">
              <a:buNone/>
            </a:pPr>
            <a:r>
              <a:rPr lang="en-US" b="1" dirty="0">
                <a:solidFill>
                  <a:srgbClr val="002060"/>
                </a:solidFill>
                <a:latin typeface="Times New Roman" panose="02020603050405020304" pitchFamily="18" charset="0"/>
                <a:ea typeface="+mj-ea"/>
                <a:cs typeface="Aharoni" pitchFamily="2" charset="-79"/>
              </a:rPr>
              <a:t>		</a:t>
            </a:r>
            <a:endParaRPr lang="en-US" b="1" dirty="0">
              <a:solidFill>
                <a:srgbClr val="002060"/>
              </a:solidFill>
              <a:latin typeface="Times New Roman" panose="02020603050405020304" pitchFamily="18" charset="0"/>
              <a:cs typeface="Aharoni" pitchFamily="2" charset="-79"/>
            </a:endParaRPr>
          </a:p>
          <a:p>
            <a:endParaRPr lang="en-US" b="1" dirty="0">
              <a:solidFill>
                <a:srgbClr val="002060"/>
              </a:solidFill>
              <a:latin typeface="Times New Roman" panose="02020603050405020304" pitchFamily="18" charset="0"/>
              <a:ea typeface="+mj-ea"/>
              <a:cs typeface="Aharoni" pitchFamily="2" charset="-79"/>
            </a:endParaRPr>
          </a:p>
          <a:p>
            <a:endParaRPr lang="en-US"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B7836C5-0F8F-DCA8-FA18-1CE05C491C81}"/>
              </a:ext>
            </a:extLst>
          </p:cNvPr>
          <p:cNvGraphicFramePr>
            <a:graphicFrameLocks noGrp="1"/>
          </p:cNvGraphicFramePr>
          <p:nvPr>
            <p:extLst>
              <p:ext uri="{D42A27DB-BD31-4B8C-83A1-F6EECF244321}">
                <p14:modId xmlns:p14="http://schemas.microsoft.com/office/powerpoint/2010/main" val="2376651887"/>
              </p:ext>
            </p:extLst>
          </p:nvPr>
        </p:nvGraphicFramePr>
        <p:xfrm>
          <a:off x="1972969" y="2383569"/>
          <a:ext cx="8128000" cy="7231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419845729"/>
                    </a:ext>
                  </a:extLst>
                </a:gridCol>
                <a:gridCol w="4064000">
                  <a:extLst>
                    <a:ext uri="{9D8B030D-6E8A-4147-A177-3AD203B41FA5}">
                      <a16:colId xmlns:a16="http://schemas.microsoft.com/office/drawing/2014/main" val="3411806050"/>
                    </a:ext>
                  </a:extLst>
                </a:gridCol>
              </a:tblGrid>
              <a:tr h="723100">
                <a:tc>
                  <a:txBody>
                    <a:bodyPr/>
                    <a:lstStyle/>
                    <a:p>
                      <a:r>
                        <a:rPr lang="en-IN" b="1" dirty="0">
                          <a:solidFill>
                            <a:schemeClr val="tx1"/>
                          </a:solidFill>
                          <a:latin typeface="Times New Roman" panose="02020603050405020304" pitchFamily="18" charset="0"/>
                          <a:cs typeface="Times New Roman" panose="02020603050405020304" pitchFamily="18" charset="0"/>
                        </a:rPr>
                        <a:t>A  Project Phase-II Presentation on :- </a:t>
                      </a:r>
                      <a:endParaRPr lang="en-IN" dirty="0">
                        <a:solidFill>
                          <a:schemeClr val="tx1"/>
                        </a:solidFil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CCTV Footage Analysis Through Computer Vision and Deep Learning.</a:t>
                      </a:r>
                    </a:p>
                  </a:txBody>
                  <a:tcPr>
                    <a:noFill/>
                  </a:tcPr>
                </a:tc>
                <a:extLst>
                  <a:ext uri="{0D108BD9-81ED-4DB2-BD59-A6C34878D82A}">
                    <a16:rowId xmlns:a16="http://schemas.microsoft.com/office/drawing/2014/main" val="43481171"/>
                  </a:ext>
                </a:extLst>
              </a:tr>
            </a:tbl>
          </a:graphicData>
        </a:graphic>
      </p:graphicFrame>
    </p:spTree>
    <p:extLst>
      <p:ext uri="{BB962C8B-B14F-4D97-AF65-F5344CB8AC3E}">
        <p14:creationId xmlns:p14="http://schemas.microsoft.com/office/powerpoint/2010/main" val="3629160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5477B13-11E6-D974-B2DD-38B90357808E}"/>
              </a:ext>
            </a:extLst>
          </p:cNvPr>
          <p:cNvSpPr>
            <a:spLocks noGrp="1"/>
          </p:cNvSpPr>
          <p:nvPr>
            <p:ph type="title"/>
          </p:nvPr>
        </p:nvSpPr>
        <p:spPr>
          <a:xfrm>
            <a:off x="673102" y="88490"/>
            <a:ext cx="5985774" cy="759565"/>
          </a:xfrm>
        </p:spPr>
        <p:txBody>
          <a:bodyPr anchor="b">
            <a:normAutofit/>
          </a:bodyPr>
          <a:lstStyle/>
          <a:p>
            <a:r>
              <a:rPr lang="en-US" sz="3600" dirty="0">
                <a:latin typeface="Arial Black" panose="020B0A04020102020204" pitchFamily="34" charset="0"/>
              </a:rPr>
              <a:t>GROUP MEMBERS</a:t>
            </a:r>
          </a:p>
        </p:txBody>
      </p:sp>
      <p:sp>
        <p:nvSpPr>
          <p:cNvPr id="13" name="Content Placeholder 2">
            <a:extLst>
              <a:ext uri="{FF2B5EF4-FFF2-40B4-BE49-F238E27FC236}">
                <a16:creationId xmlns:a16="http://schemas.microsoft.com/office/drawing/2014/main" id="{4B60477B-AE83-4155-E89E-BE79D5FE426B}"/>
              </a:ext>
            </a:extLst>
          </p:cNvPr>
          <p:cNvSpPr txBox="1">
            <a:spLocks/>
          </p:cNvSpPr>
          <p:nvPr/>
        </p:nvSpPr>
        <p:spPr>
          <a:xfrm>
            <a:off x="890247" y="1915383"/>
            <a:ext cx="5985774" cy="3034880"/>
          </a:xfrm>
          <a:prstGeom prst="rect">
            <a:avLst/>
          </a:prstGeom>
        </p:spPr>
        <p:txBody>
          <a:bodyPr vert="horz" lIns="109728" tIns="109728" rIns="109728" bIns="9144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
            </a:pPr>
            <a:r>
              <a:rPr lang="en-US" sz="2000" dirty="0">
                <a:latin typeface="Aparajita" panose="02020603050405020304" pitchFamily="18" charset="0"/>
                <a:cs typeface="Aparajita" panose="02020603050405020304" pitchFamily="18" charset="0"/>
              </a:rPr>
              <a:t>SHAM	-	23</a:t>
            </a:r>
          </a:p>
          <a:p>
            <a:pPr marL="342900" indent="-342900">
              <a:buFont typeface="Wingdings" panose="05000000000000000000" pitchFamily="2" charset="2"/>
              <a:buChar char="§"/>
            </a:pPr>
            <a:r>
              <a:rPr lang="en-US" sz="2000" dirty="0">
                <a:latin typeface="Aparajita" panose="02020603050405020304" pitchFamily="18" charset="0"/>
                <a:cs typeface="Aparajita" panose="02020603050405020304" pitchFamily="18" charset="0"/>
              </a:rPr>
              <a:t>SANKET	-	37</a:t>
            </a:r>
          </a:p>
          <a:p>
            <a:pPr marL="342900" indent="-342900">
              <a:buFont typeface="Wingdings" panose="05000000000000000000" pitchFamily="2" charset="2"/>
              <a:buChar char="§"/>
            </a:pPr>
            <a:r>
              <a:rPr lang="en-US" sz="2000" dirty="0">
                <a:latin typeface="Aparajita" panose="02020603050405020304" pitchFamily="18" charset="0"/>
                <a:cs typeface="Aparajita" panose="02020603050405020304" pitchFamily="18" charset="0"/>
              </a:rPr>
              <a:t>TANISH	-	18</a:t>
            </a:r>
          </a:p>
          <a:p>
            <a:pPr marL="342900" indent="-342900">
              <a:buFont typeface="Wingdings" panose="05000000000000000000" pitchFamily="2" charset="2"/>
              <a:buChar char="§"/>
            </a:pPr>
            <a:r>
              <a:rPr lang="en-US" sz="2000" dirty="0">
                <a:latin typeface="Aparajita" panose="02020603050405020304" pitchFamily="18" charset="0"/>
                <a:cs typeface="Aparajita" panose="02020603050405020304" pitchFamily="18" charset="0"/>
              </a:rPr>
              <a:t>PRANAV	-	28</a:t>
            </a:r>
          </a:p>
        </p:txBody>
      </p:sp>
      <p:sp>
        <p:nvSpPr>
          <p:cNvPr id="14" name="TextBox 13">
            <a:extLst>
              <a:ext uri="{FF2B5EF4-FFF2-40B4-BE49-F238E27FC236}">
                <a16:creationId xmlns:a16="http://schemas.microsoft.com/office/drawing/2014/main" id="{1BC5D46A-C910-E9EB-7E2F-C334B7202CAF}"/>
              </a:ext>
            </a:extLst>
          </p:cNvPr>
          <p:cNvSpPr txBox="1"/>
          <p:nvPr/>
        </p:nvSpPr>
        <p:spPr>
          <a:xfrm>
            <a:off x="1465123" y="1500468"/>
            <a:ext cx="3758267" cy="369332"/>
          </a:xfrm>
          <a:prstGeom prst="rect">
            <a:avLst/>
          </a:prstGeom>
          <a:noFill/>
        </p:spPr>
        <p:txBody>
          <a:bodyPr wrap="square" rtlCol="0">
            <a:spAutoFit/>
          </a:bodyPr>
          <a:lstStyle/>
          <a:p>
            <a:r>
              <a:rPr lang="en-US" b="1" dirty="0"/>
              <a:t>Name 		Roll No.</a:t>
            </a:r>
            <a:endParaRPr lang="en-IN" b="1" dirty="0"/>
          </a:p>
        </p:txBody>
      </p:sp>
    </p:spTree>
    <p:extLst>
      <p:ext uri="{BB962C8B-B14F-4D97-AF65-F5344CB8AC3E}">
        <p14:creationId xmlns:p14="http://schemas.microsoft.com/office/powerpoint/2010/main" val="2423568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13708-7B2F-3130-E112-2D404B1C4D2E}"/>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FAF2880A-D1A3-8F5B-DA9E-BA55D66418FC}"/>
              </a:ext>
            </a:extLst>
          </p:cNvPr>
          <p:cNvSpPr>
            <a:spLocks noGrp="1"/>
          </p:cNvSpPr>
          <p:nvPr>
            <p:ph type="title"/>
          </p:nvPr>
        </p:nvSpPr>
        <p:spPr>
          <a:xfrm>
            <a:off x="623406" y="0"/>
            <a:ext cx="5985774" cy="759565"/>
          </a:xfrm>
        </p:spPr>
        <p:txBody>
          <a:bodyPr anchor="b">
            <a:normAutofit/>
          </a:bodyPr>
          <a:lstStyle/>
          <a:p>
            <a:r>
              <a:rPr lang="en-US" sz="3600" dirty="0">
                <a:latin typeface="Arial Black" panose="020B0A04020102020204" pitchFamily="34" charset="0"/>
              </a:rPr>
              <a:t>PROBLEM STATEMENT</a:t>
            </a:r>
          </a:p>
        </p:txBody>
      </p:sp>
      <p:sp>
        <p:nvSpPr>
          <p:cNvPr id="2" name="TextBox 1">
            <a:extLst>
              <a:ext uri="{FF2B5EF4-FFF2-40B4-BE49-F238E27FC236}">
                <a16:creationId xmlns:a16="http://schemas.microsoft.com/office/drawing/2014/main" id="{67752334-2CAB-D0D7-BF6B-BCEDFEA5350E}"/>
              </a:ext>
            </a:extLst>
          </p:cNvPr>
          <p:cNvSpPr txBox="1"/>
          <p:nvPr/>
        </p:nvSpPr>
        <p:spPr>
          <a:xfrm>
            <a:off x="956345" y="1510018"/>
            <a:ext cx="10637240" cy="2308324"/>
          </a:xfrm>
          <a:prstGeom prst="rect">
            <a:avLst/>
          </a:prstGeom>
          <a:noFill/>
        </p:spPr>
        <p:txBody>
          <a:bodyPr wrap="square" rtlCol="0">
            <a:spAutoFit/>
          </a:bodyPr>
          <a:lstStyle/>
          <a:p>
            <a:r>
              <a:rPr lang="en-US" dirty="0"/>
              <a:t>	The rapid growth of CCTV surveillance systems generates a large volume of video data, making manual monitoring time-consuming and inefficient. This project addresses the problem by using Computer Vision and Deep Learning techniques to automatically analyze CCTV footage. The system detects objects such as people and vehicles and extracts important information from videos. It then generates timestamp-based descriptions using attributes like type, color, and size, allowing users to quickly understand events without watching the entire footage. This approach improves efficiency, reduces human effort, and enhances accuracy in surveillance tasks. It is especially useful in applications such as security monitoring, crime investigation, traffic analysis, and smart surveillance systems.</a:t>
            </a:r>
          </a:p>
        </p:txBody>
      </p:sp>
    </p:spTree>
    <p:extLst>
      <p:ext uri="{BB962C8B-B14F-4D97-AF65-F5344CB8AC3E}">
        <p14:creationId xmlns:p14="http://schemas.microsoft.com/office/powerpoint/2010/main" val="1417899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C7096-2D15-9355-3105-5883FE698414}"/>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1D0B29A-6309-A7A2-587E-D214FC76CCCC}"/>
              </a:ext>
            </a:extLst>
          </p:cNvPr>
          <p:cNvSpPr>
            <a:spLocks noGrp="1"/>
          </p:cNvSpPr>
          <p:nvPr>
            <p:ph type="title"/>
          </p:nvPr>
        </p:nvSpPr>
        <p:spPr>
          <a:xfrm>
            <a:off x="603529" y="0"/>
            <a:ext cx="5985774" cy="759565"/>
          </a:xfrm>
        </p:spPr>
        <p:txBody>
          <a:bodyPr anchor="b">
            <a:normAutofit/>
          </a:bodyPr>
          <a:lstStyle/>
          <a:p>
            <a:r>
              <a:rPr lang="en-US" sz="3600" dirty="0">
                <a:latin typeface="Arial Black" panose="020B0A04020102020204" pitchFamily="34" charset="0"/>
              </a:rPr>
              <a:t>OBJECTIVES</a:t>
            </a:r>
          </a:p>
        </p:txBody>
      </p:sp>
      <p:sp>
        <p:nvSpPr>
          <p:cNvPr id="2" name="TextBox 1">
            <a:extLst>
              <a:ext uri="{FF2B5EF4-FFF2-40B4-BE49-F238E27FC236}">
                <a16:creationId xmlns:a16="http://schemas.microsoft.com/office/drawing/2014/main" id="{315D1AD3-3DAE-C977-D9F4-99C3979E7413}"/>
              </a:ext>
            </a:extLst>
          </p:cNvPr>
          <p:cNvSpPr txBox="1"/>
          <p:nvPr/>
        </p:nvSpPr>
        <p:spPr>
          <a:xfrm>
            <a:off x="956345" y="1482214"/>
            <a:ext cx="10637240" cy="3206134"/>
          </a:xfrm>
          <a:prstGeom prst="rect">
            <a:avLst/>
          </a:prstGeom>
          <a:noFill/>
        </p:spPr>
        <p:txBody>
          <a:bodyPr wrap="square" rtlCol="0" anchor="t">
            <a:spAutoFit/>
          </a:bodyPr>
          <a:lstStyle/>
          <a:p>
            <a:pPr marL="342900" indent="-342900">
              <a:lnSpc>
                <a:spcPts val="3316"/>
              </a:lnSpc>
              <a:spcBef>
                <a:spcPct val="0"/>
              </a:spcBef>
              <a:buFont typeface="+mj-lt"/>
              <a:buAutoNum type="arabicPeriod"/>
            </a:pPr>
            <a:r>
              <a:rPr lang="en-US" dirty="0">
                <a:solidFill>
                  <a:srgbClr val="000000"/>
                </a:solidFill>
                <a:latin typeface="Arimo"/>
                <a:ea typeface="Arimo"/>
                <a:cs typeface="Arimo"/>
                <a:sym typeface="Arimo"/>
              </a:rPr>
              <a:t>Automate CCTV Video Analysis</a:t>
            </a:r>
          </a:p>
          <a:p>
            <a:pPr marL="342900" indent="-342900">
              <a:lnSpc>
                <a:spcPct val="200000"/>
              </a:lnSpc>
              <a:buFont typeface="+mj-lt"/>
              <a:buAutoNum type="arabicPeriod"/>
            </a:pPr>
            <a:r>
              <a:rPr lang="en-US" dirty="0">
                <a:solidFill>
                  <a:srgbClr val="000000"/>
                </a:solidFill>
                <a:latin typeface="Arimo"/>
                <a:ea typeface="Arimo"/>
                <a:cs typeface="Arimo"/>
                <a:sym typeface="Arimo"/>
              </a:rPr>
              <a:t>Enable Attribute-Based Video Search </a:t>
            </a:r>
          </a:p>
          <a:p>
            <a:pPr marL="342900" indent="-342900">
              <a:lnSpc>
                <a:spcPct val="200000"/>
              </a:lnSpc>
              <a:buFont typeface="+mj-lt"/>
              <a:buAutoNum type="arabicPeriod"/>
            </a:pPr>
            <a:r>
              <a:rPr lang="en-US" dirty="0">
                <a:solidFill>
                  <a:srgbClr val="000000"/>
                </a:solidFill>
                <a:latin typeface="Arimo"/>
                <a:ea typeface="Arimo"/>
                <a:cs typeface="Arimo"/>
                <a:sym typeface="Arimo"/>
              </a:rPr>
              <a:t>Convert Video Frames into Vector Representations </a:t>
            </a:r>
          </a:p>
          <a:p>
            <a:pPr marL="342900" indent="-342900">
              <a:lnSpc>
                <a:spcPct val="200000"/>
              </a:lnSpc>
              <a:buFont typeface="+mj-lt"/>
              <a:buAutoNum type="arabicPeriod"/>
            </a:pPr>
            <a:r>
              <a:rPr lang="en-US" dirty="0">
                <a:solidFill>
                  <a:srgbClr val="000000"/>
                </a:solidFill>
                <a:latin typeface="Arimo"/>
                <a:ea typeface="Arimo"/>
                <a:cs typeface="Arimo"/>
                <a:sym typeface="Arimo"/>
              </a:rPr>
              <a:t>Create Timestamp-Based Indexing </a:t>
            </a:r>
          </a:p>
          <a:p>
            <a:pPr marL="342900" indent="-342900">
              <a:lnSpc>
                <a:spcPct val="200000"/>
              </a:lnSpc>
              <a:buFont typeface="+mj-lt"/>
              <a:buAutoNum type="arabicPeriod"/>
            </a:pPr>
            <a:r>
              <a:rPr lang="en-US" dirty="0">
                <a:solidFill>
                  <a:srgbClr val="000000"/>
                </a:solidFill>
                <a:latin typeface="Arimo"/>
                <a:ea typeface="Arimo"/>
                <a:cs typeface="Arimo"/>
                <a:sym typeface="Arimo"/>
              </a:rPr>
              <a:t>Reduce Time Required for Video Investigation</a:t>
            </a:r>
          </a:p>
          <a:p>
            <a:pPr marL="342900" indent="-342900">
              <a:lnSpc>
                <a:spcPct val="200000"/>
              </a:lnSpc>
              <a:buFont typeface="+mj-lt"/>
              <a:buAutoNum type="arabicPeriod"/>
            </a:pPr>
            <a:r>
              <a:rPr lang="en-US" dirty="0">
                <a:solidFill>
                  <a:srgbClr val="000000"/>
                </a:solidFill>
                <a:latin typeface="Arimo"/>
                <a:ea typeface="Arimo"/>
                <a:cs typeface="Arimo"/>
                <a:sym typeface="Arimo"/>
              </a:rPr>
              <a:t>Develop a User-Friendly Search Interface</a:t>
            </a:r>
            <a:endParaRPr lang="en-US" dirty="0"/>
          </a:p>
        </p:txBody>
      </p:sp>
    </p:spTree>
    <p:extLst>
      <p:ext uri="{BB962C8B-B14F-4D97-AF65-F5344CB8AC3E}">
        <p14:creationId xmlns:p14="http://schemas.microsoft.com/office/powerpoint/2010/main" val="492071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55FE83-36E5-3B0E-30C7-55C02969EC76}"/>
              </a:ext>
            </a:extLst>
          </p:cNvPr>
          <p:cNvSpPr txBox="1"/>
          <p:nvPr/>
        </p:nvSpPr>
        <p:spPr>
          <a:xfrm>
            <a:off x="632398" y="125407"/>
            <a:ext cx="5615896" cy="646331"/>
          </a:xfrm>
          <a:prstGeom prst="rect">
            <a:avLst/>
          </a:prstGeom>
          <a:noFill/>
        </p:spPr>
        <p:txBody>
          <a:bodyPr wrap="none" rtlCol="0">
            <a:spAutoFit/>
          </a:bodyPr>
          <a:lstStyle/>
          <a:p>
            <a:r>
              <a:rPr lang="en-US" sz="3600" b="1" dirty="0">
                <a:latin typeface="Arial Black" pitchFamily="34" charset="0"/>
              </a:rPr>
              <a:t>LITERATURE REVIEW</a:t>
            </a:r>
          </a:p>
        </p:txBody>
      </p:sp>
      <p:cxnSp>
        <p:nvCxnSpPr>
          <p:cNvPr id="4" name="Straight Connector 3">
            <a:extLst>
              <a:ext uri="{FF2B5EF4-FFF2-40B4-BE49-F238E27FC236}">
                <a16:creationId xmlns:a16="http://schemas.microsoft.com/office/drawing/2014/main" id="{1876EDAE-392F-5161-9E62-822D455CC73B}"/>
              </a:ext>
            </a:extLst>
          </p:cNvPr>
          <p:cNvCxnSpPr/>
          <p:nvPr/>
        </p:nvCxnSpPr>
        <p:spPr>
          <a:xfrm rot="5400000" flipH="1" flipV="1">
            <a:off x="862642" y="6383548"/>
            <a:ext cx="25879" cy="258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690BCC8-39A4-0ACF-B72E-2B4BE79158F0}"/>
              </a:ext>
            </a:extLst>
          </p:cNvPr>
          <p:cNvCxnSpPr>
            <a:cxnSpLocks/>
          </p:cNvCxnSpPr>
          <p:nvPr/>
        </p:nvCxnSpPr>
        <p:spPr>
          <a:xfrm flipV="1">
            <a:off x="396908" y="6396487"/>
            <a:ext cx="5413957" cy="1294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D2F3E6DB-5989-F445-6CB5-48217AFAE7A5}"/>
              </a:ext>
            </a:extLst>
          </p:cNvPr>
          <p:cNvGraphicFramePr>
            <a:graphicFrameLocks noGrp="1"/>
          </p:cNvGraphicFramePr>
          <p:nvPr>
            <p:extLst>
              <p:ext uri="{D42A27DB-BD31-4B8C-83A1-F6EECF244321}">
                <p14:modId xmlns:p14="http://schemas.microsoft.com/office/powerpoint/2010/main" val="1871262475"/>
              </p:ext>
            </p:extLst>
          </p:nvPr>
        </p:nvGraphicFramePr>
        <p:xfrm>
          <a:off x="127552" y="722729"/>
          <a:ext cx="11936895" cy="5760720"/>
        </p:xfrm>
        <a:graphic>
          <a:graphicData uri="http://schemas.openxmlformats.org/drawingml/2006/table">
            <a:tbl>
              <a:tblPr firstRow="1" bandRow="1">
                <a:tableStyleId>{5C22544A-7EE6-4342-B048-85BDC9FD1C3A}</a:tableStyleId>
              </a:tblPr>
              <a:tblGrid>
                <a:gridCol w="799840">
                  <a:extLst>
                    <a:ext uri="{9D8B030D-6E8A-4147-A177-3AD203B41FA5}">
                      <a16:colId xmlns:a16="http://schemas.microsoft.com/office/drawing/2014/main" val="3571296616"/>
                    </a:ext>
                  </a:extLst>
                </a:gridCol>
                <a:gridCol w="1298973">
                  <a:extLst>
                    <a:ext uri="{9D8B030D-6E8A-4147-A177-3AD203B41FA5}">
                      <a16:colId xmlns:a16="http://schemas.microsoft.com/office/drawing/2014/main" val="1185246498"/>
                    </a:ext>
                  </a:extLst>
                </a:gridCol>
                <a:gridCol w="1641538">
                  <a:extLst>
                    <a:ext uri="{9D8B030D-6E8A-4147-A177-3AD203B41FA5}">
                      <a16:colId xmlns:a16="http://schemas.microsoft.com/office/drawing/2014/main" val="420518565"/>
                    </a:ext>
                  </a:extLst>
                </a:gridCol>
                <a:gridCol w="1516361">
                  <a:extLst>
                    <a:ext uri="{9D8B030D-6E8A-4147-A177-3AD203B41FA5}">
                      <a16:colId xmlns:a16="http://schemas.microsoft.com/office/drawing/2014/main" val="123923596"/>
                    </a:ext>
                  </a:extLst>
                </a:gridCol>
                <a:gridCol w="1440336">
                  <a:extLst>
                    <a:ext uri="{9D8B030D-6E8A-4147-A177-3AD203B41FA5}">
                      <a16:colId xmlns:a16="http://schemas.microsoft.com/office/drawing/2014/main" val="1132992911"/>
                    </a:ext>
                  </a:extLst>
                </a:gridCol>
                <a:gridCol w="2135407">
                  <a:extLst>
                    <a:ext uri="{9D8B030D-6E8A-4147-A177-3AD203B41FA5}">
                      <a16:colId xmlns:a16="http://schemas.microsoft.com/office/drawing/2014/main" val="44947569"/>
                    </a:ext>
                  </a:extLst>
                </a:gridCol>
                <a:gridCol w="1568214">
                  <a:extLst>
                    <a:ext uri="{9D8B030D-6E8A-4147-A177-3AD203B41FA5}">
                      <a16:colId xmlns:a16="http://schemas.microsoft.com/office/drawing/2014/main" val="3673396667"/>
                    </a:ext>
                  </a:extLst>
                </a:gridCol>
                <a:gridCol w="1536226">
                  <a:extLst>
                    <a:ext uri="{9D8B030D-6E8A-4147-A177-3AD203B41FA5}">
                      <a16:colId xmlns:a16="http://schemas.microsoft.com/office/drawing/2014/main" val="855266782"/>
                    </a:ext>
                  </a:extLst>
                </a:gridCol>
              </a:tblGrid>
              <a:tr h="608514">
                <a:tc>
                  <a:txBody>
                    <a:bodyPr/>
                    <a:lstStyle/>
                    <a:p>
                      <a:r>
                        <a:rPr lang="en-IN" dirty="0"/>
                        <a:t>Serial No.</a:t>
                      </a:r>
                    </a:p>
                  </a:txBody>
                  <a:tcPr/>
                </a:tc>
                <a:tc>
                  <a:txBody>
                    <a:bodyPr/>
                    <a:lstStyle/>
                    <a:p>
                      <a:r>
                        <a:rPr lang="en-IN" dirty="0"/>
                        <a:t>Year of Publication</a:t>
                      </a:r>
                    </a:p>
                  </a:txBody>
                  <a:tcPr/>
                </a:tc>
                <a:tc>
                  <a:txBody>
                    <a:bodyPr/>
                    <a:lstStyle/>
                    <a:p>
                      <a:r>
                        <a:rPr lang="en-IN" dirty="0"/>
                        <a:t>Title</a:t>
                      </a:r>
                    </a:p>
                  </a:txBody>
                  <a:tcPr/>
                </a:tc>
                <a:tc>
                  <a:txBody>
                    <a:bodyPr/>
                    <a:lstStyle/>
                    <a:p>
                      <a:r>
                        <a:rPr lang="en-IN" dirty="0"/>
                        <a:t>Authors</a:t>
                      </a:r>
                    </a:p>
                  </a:txBody>
                  <a:tcPr/>
                </a:tc>
                <a:tc>
                  <a:txBody>
                    <a:bodyPr/>
                    <a:lstStyle/>
                    <a:p>
                      <a:r>
                        <a:rPr lang="en-IN" dirty="0"/>
                        <a:t>Publications</a:t>
                      </a:r>
                    </a:p>
                  </a:txBody>
                  <a:tcPr/>
                </a:tc>
                <a:tc>
                  <a:txBody>
                    <a:bodyPr/>
                    <a:lstStyle/>
                    <a:p>
                      <a:r>
                        <a:rPr lang="en-IN" dirty="0" err="1"/>
                        <a:t>Methododlogy</a:t>
                      </a:r>
                      <a:endParaRPr lang="en-IN" dirty="0"/>
                    </a:p>
                  </a:txBody>
                  <a:tcPr/>
                </a:tc>
                <a:tc>
                  <a:txBody>
                    <a:bodyPr/>
                    <a:lstStyle/>
                    <a:p>
                      <a:r>
                        <a:rPr lang="en-IN" dirty="0"/>
                        <a:t>QOS Parameters</a:t>
                      </a:r>
                    </a:p>
                  </a:txBody>
                  <a:tcPr/>
                </a:tc>
                <a:tc>
                  <a:txBody>
                    <a:bodyPr/>
                    <a:lstStyle/>
                    <a:p>
                      <a:r>
                        <a:rPr lang="en-IN" dirty="0"/>
                        <a:t>Limitations</a:t>
                      </a:r>
                    </a:p>
                  </a:txBody>
                  <a:tcPr/>
                </a:tc>
                <a:extLst>
                  <a:ext uri="{0D108BD9-81ED-4DB2-BD59-A6C34878D82A}">
                    <a16:rowId xmlns:a16="http://schemas.microsoft.com/office/drawing/2014/main" val="3321347189"/>
                  </a:ext>
                </a:extLst>
              </a:tr>
              <a:tr h="1130098">
                <a:tc>
                  <a:txBody>
                    <a:bodyPr/>
                    <a:lstStyle/>
                    <a:p>
                      <a:r>
                        <a:rPr lang="en-IN" sz="1200" dirty="0"/>
                        <a:t>1.</a:t>
                      </a:r>
                    </a:p>
                  </a:txBody>
                  <a:tcPr/>
                </a:tc>
                <a:tc>
                  <a:txBody>
                    <a:bodyPr/>
                    <a:lstStyle/>
                    <a:p>
                      <a:r>
                        <a:rPr lang="en-IN" sz="1200" dirty="0"/>
                        <a:t>March 2024</a:t>
                      </a:r>
                    </a:p>
                  </a:txBody>
                  <a:tcPr/>
                </a:tc>
                <a:tc>
                  <a:txBody>
                    <a:bodyPr/>
                    <a:lstStyle/>
                    <a:p>
                      <a:r>
                        <a:rPr lang="en-US" sz="1200" b="1" u="none" dirty="0">
                          <a:hlinkClick r:id="rId2"/>
                        </a:rPr>
                        <a:t>Design of a real‑time crime monitoring system using deep learning techniques</a:t>
                      </a:r>
                      <a:endParaRPr lang="en-IN" sz="1200" b="1" u="none" dirty="0"/>
                    </a:p>
                  </a:txBody>
                  <a:tcPr/>
                </a:tc>
                <a:tc>
                  <a:txBody>
                    <a:bodyPr/>
                    <a:lstStyle/>
                    <a:p>
                      <a:r>
                        <a:rPr lang="en-IN" sz="1200" dirty="0"/>
                        <a:t>Md. Muktadir </a:t>
                      </a:r>
                      <a:r>
                        <a:rPr lang="en-IN" sz="1200" dirty="0" err="1"/>
                        <a:t>Mukto</a:t>
                      </a:r>
                      <a:r>
                        <a:rPr lang="en-IN" sz="1200" dirty="0"/>
                        <a:t>, </a:t>
                      </a:r>
                      <a:r>
                        <a:rPr lang="en-IN" sz="1200" dirty="0" err="1"/>
                        <a:t>Mahamudul</a:t>
                      </a:r>
                      <a:r>
                        <a:rPr lang="en-IN" sz="1200" dirty="0"/>
                        <a:t> Hasan, Md. </a:t>
                      </a:r>
                      <a:r>
                        <a:rPr lang="en-IN" sz="1200" dirty="0" err="1"/>
                        <a:t>Maiyaz</a:t>
                      </a:r>
                      <a:r>
                        <a:rPr lang="en-IN" sz="1200" dirty="0"/>
                        <a:t> Al Mahmud,</a:t>
                      </a:r>
                    </a:p>
                    <a:p>
                      <a:r>
                        <a:rPr lang="en-IN" sz="1200" dirty="0" err="1"/>
                        <a:t>kramul</a:t>
                      </a:r>
                      <a:r>
                        <a:rPr lang="en-IN" sz="1200" dirty="0"/>
                        <a:t> Haque</a:t>
                      </a:r>
                    </a:p>
                  </a:txBody>
                  <a:tcPr/>
                </a:tc>
                <a:tc>
                  <a:txBody>
                    <a:bodyPr/>
                    <a:lstStyle/>
                    <a:p>
                      <a:r>
                        <a:rPr lang="en-IN" sz="1200" b="0" dirty="0"/>
                        <a:t>Intelligent Systems with Applications</a:t>
                      </a:r>
                    </a:p>
                  </a:txBody>
                  <a:tcPr/>
                </a:tc>
                <a:tc>
                  <a:txBody>
                    <a:bodyPr/>
                    <a:lstStyle/>
                    <a:p>
                      <a:r>
                        <a:rPr lang="en-US" sz="1200" dirty="0"/>
                        <a:t>Weapon detection using YOLOv5Violence detection using MobileNetv2Face recognition using LBPH (Local Binary Pattern Histogram)</a:t>
                      </a:r>
                      <a:endParaRPr lang="en-IN" sz="1200" dirty="0"/>
                    </a:p>
                  </a:txBody>
                  <a:tcPr/>
                </a:tc>
                <a:tc>
                  <a:txBody>
                    <a:bodyPr/>
                    <a:lstStyle/>
                    <a:p>
                      <a:r>
                        <a:rPr lang="en-US" sz="1200" dirty="0"/>
                        <a:t>Weapon detection: &gt; 80% accuracy</a:t>
                      </a:r>
                    </a:p>
                    <a:p>
                      <a:r>
                        <a:rPr lang="en-US" sz="1200" dirty="0"/>
                        <a:t>Violence detection: ~95% accuracy</a:t>
                      </a:r>
                    </a:p>
                    <a:p>
                      <a:r>
                        <a:rPr lang="en-US" sz="1200" dirty="0"/>
                        <a:t>Face recognition: ~97% accuracy</a:t>
                      </a:r>
                      <a:endParaRPr lang="en-IN" sz="1200" dirty="0"/>
                    </a:p>
                  </a:txBody>
                  <a:tcPr/>
                </a:tc>
                <a:tc>
                  <a:txBody>
                    <a:bodyPr/>
                    <a:lstStyle/>
                    <a:p>
                      <a:r>
                        <a:rPr lang="en-IN" sz="1200" dirty="0"/>
                        <a:t>Dataset dependencies,</a:t>
                      </a:r>
                    </a:p>
                    <a:p>
                      <a:r>
                        <a:rPr lang="en-IN" sz="1200" dirty="0"/>
                        <a:t>Computing requirements</a:t>
                      </a:r>
                    </a:p>
                  </a:txBody>
                  <a:tcPr/>
                </a:tc>
                <a:extLst>
                  <a:ext uri="{0D108BD9-81ED-4DB2-BD59-A6C34878D82A}">
                    <a16:rowId xmlns:a16="http://schemas.microsoft.com/office/drawing/2014/main" val="2646869332"/>
                  </a:ext>
                </a:extLst>
              </a:tr>
              <a:tr h="956237">
                <a:tc>
                  <a:txBody>
                    <a:bodyPr/>
                    <a:lstStyle/>
                    <a:p>
                      <a:r>
                        <a:rPr lang="en-IN" sz="1200" dirty="0"/>
                        <a:t>2.</a:t>
                      </a:r>
                    </a:p>
                  </a:txBody>
                  <a:tcPr/>
                </a:tc>
                <a:tc>
                  <a:txBody>
                    <a:bodyPr/>
                    <a:lstStyle/>
                    <a:p>
                      <a:r>
                        <a:rPr lang="en-IN" sz="1200" dirty="0"/>
                        <a:t>2023 </a:t>
                      </a:r>
                    </a:p>
                  </a:txBody>
                  <a:tcPr/>
                </a:tc>
                <a:tc>
                  <a:txBody>
                    <a:bodyPr/>
                    <a:lstStyle/>
                    <a:p>
                      <a:r>
                        <a:rPr lang="en-US" sz="1200" b="1" dirty="0">
                          <a:hlinkClick r:id="rId3"/>
                        </a:rPr>
                        <a:t>Building Occupancy Detection and Localization Using CCTV Camera and Deep Learning</a:t>
                      </a:r>
                      <a:endParaRPr lang="en-IN" sz="1200" b="1" dirty="0"/>
                    </a:p>
                  </a:txBody>
                  <a:tcPr/>
                </a:tc>
                <a:tc>
                  <a:txBody>
                    <a:bodyPr/>
                    <a:lstStyle/>
                    <a:p>
                      <a:r>
                        <a:rPr lang="en-IN" sz="1200" dirty="0"/>
                        <a:t>Shushan Hu</a:t>
                      </a:r>
                    </a:p>
                    <a:p>
                      <a:r>
                        <a:rPr lang="en-IN" sz="1200" dirty="0"/>
                        <a:t>Peng Wang</a:t>
                      </a:r>
                    </a:p>
                    <a:p>
                      <a:r>
                        <a:rPr lang="en-IN" sz="1200" dirty="0"/>
                        <a:t>Cathal Hoare</a:t>
                      </a:r>
                    </a:p>
                    <a:p>
                      <a:r>
                        <a:rPr lang="en-IN" sz="1200" dirty="0"/>
                        <a:t>James O’Donnell</a:t>
                      </a:r>
                    </a:p>
                  </a:txBody>
                  <a:tcPr/>
                </a:tc>
                <a:tc>
                  <a:txBody>
                    <a:bodyPr/>
                    <a:lstStyle/>
                    <a:p>
                      <a:r>
                        <a:rPr lang="en-US" sz="1200" b="0" dirty="0"/>
                        <a:t>IEEE Internet of Things Journal</a:t>
                      </a:r>
                      <a:endParaRPr lang="en-IN" sz="1200" b="0" dirty="0"/>
                    </a:p>
                  </a:txBody>
                  <a:tcPr/>
                </a:tc>
                <a:tc>
                  <a:txBody>
                    <a:bodyPr/>
                    <a:lstStyle/>
                    <a:p>
                      <a:r>
                        <a:rPr lang="en-US" sz="1200" dirty="0"/>
                        <a:t>Machine learning / deep learning models for detection. Real‑time alerts or classification of criminal </a:t>
                      </a:r>
                      <a:r>
                        <a:rPr lang="en-US" sz="1200" dirty="0" err="1"/>
                        <a:t>behaviour</a:t>
                      </a:r>
                      <a:r>
                        <a:rPr lang="en-US" sz="1200" dirty="0"/>
                        <a:t>.</a:t>
                      </a:r>
                      <a:endParaRPr lang="en-IN" sz="1200" dirty="0"/>
                    </a:p>
                  </a:txBody>
                  <a:tcPr/>
                </a:tc>
                <a:tc>
                  <a:txBody>
                    <a:bodyPr/>
                    <a:lstStyle/>
                    <a:p>
                      <a:r>
                        <a:rPr lang="en-IN" sz="1200" dirty="0"/>
                        <a:t>detection rate, precision, recall</a:t>
                      </a:r>
                    </a:p>
                  </a:txBody>
                  <a:tcPr/>
                </a:tc>
                <a:tc>
                  <a:txBody>
                    <a:bodyPr/>
                    <a:lstStyle/>
                    <a:p>
                      <a:r>
                        <a:rPr lang="en-US" sz="1200" dirty="0"/>
                        <a:t>Model dependence on training data quality</a:t>
                      </a:r>
                      <a:endParaRPr lang="en-IN" sz="1200" dirty="0"/>
                    </a:p>
                  </a:txBody>
                  <a:tcPr/>
                </a:tc>
                <a:extLst>
                  <a:ext uri="{0D108BD9-81ED-4DB2-BD59-A6C34878D82A}">
                    <a16:rowId xmlns:a16="http://schemas.microsoft.com/office/drawing/2014/main" val="4218527381"/>
                  </a:ext>
                </a:extLst>
              </a:tr>
              <a:tr h="1303959">
                <a:tc>
                  <a:txBody>
                    <a:bodyPr/>
                    <a:lstStyle/>
                    <a:p>
                      <a:r>
                        <a:rPr lang="en-IN" sz="1200" dirty="0"/>
                        <a:t>3.</a:t>
                      </a:r>
                    </a:p>
                  </a:txBody>
                  <a:tcPr/>
                </a:tc>
                <a:tc>
                  <a:txBody>
                    <a:bodyPr/>
                    <a:lstStyle/>
                    <a:p>
                      <a:r>
                        <a:rPr lang="en-IN" sz="1200" dirty="0"/>
                        <a:t>2018 </a:t>
                      </a:r>
                    </a:p>
                  </a:txBody>
                  <a:tcPr/>
                </a:tc>
                <a:tc>
                  <a:txBody>
                    <a:bodyPr/>
                    <a:lstStyle/>
                    <a:p>
                      <a:r>
                        <a:rPr lang="en-US" sz="1200" b="1" dirty="0">
                          <a:hlinkClick r:id="rId4"/>
                        </a:rPr>
                        <a:t>Deep Learning Based Surveillance System for Open Critical Areas</a:t>
                      </a:r>
                      <a:endParaRPr lang="en-IN" sz="1200" b="1" dirty="0"/>
                    </a:p>
                  </a:txBody>
                  <a:tcPr/>
                </a:tc>
                <a:tc>
                  <a:txBody>
                    <a:bodyPr/>
                    <a:lstStyle/>
                    <a:p>
                      <a:r>
                        <a:rPr lang="it-IT" sz="1200" dirty="0"/>
                        <a:t>Francesco TurchiniLorenzo SeidenariTiberio UricchioAlberto Del Bimbo</a:t>
                      </a:r>
                      <a:endParaRPr lang="en-IN" sz="1200" dirty="0"/>
                    </a:p>
                  </a:txBody>
                  <a:tcPr/>
                </a:tc>
                <a:tc>
                  <a:txBody>
                    <a:bodyPr/>
                    <a:lstStyle/>
                    <a:p>
                      <a:r>
                        <a:rPr lang="en-IN" sz="1200" b="0" dirty="0"/>
                        <a:t> Inventions (MDPI)</a:t>
                      </a:r>
                    </a:p>
                  </a:txBody>
                  <a:tcPr/>
                </a:tc>
                <a:tc>
                  <a:txBody>
                    <a:bodyPr/>
                    <a:lstStyle/>
                    <a:p>
                      <a:r>
                        <a:rPr lang="en-US" sz="1200" dirty="0"/>
                        <a:t>Detecting objects (people, vehicles, etc.) using deep learning models. Tracking their movement through video streams. Counting objects and identifying anomalous behavior.</a:t>
                      </a:r>
                      <a:endParaRPr lang="en-IN" sz="1200" dirty="0"/>
                    </a:p>
                  </a:txBody>
                  <a:tcPr/>
                </a:tc>
                <a:tc>
                  <a:txBody>
                    <a:bodyPr/>
                    <a:lstStyle/>
                    <a:p>
                      <a:r>
                        <a:rPr lang="en-US" sz="1200" dirty="0"/>
                        <a:t>Object counting and detection accuracy in real‑world challenges</a:t>
                      </a:r>
                      <a:endParaRPr lang="en-IN" sz="1200" dirty="0"/>
                    </a:p>
                  </a:txBody>
                  <a:tcPr/>
                </a:tc>
                <a:tc>
                  <a:txBody>
                    <a:bodyPr/>
                    <a:lstStyle/>
                    <a:p>
                      <a:r>
                        <a:rPr lang="en-IN" sz="1200" dirty="0"/>
                        <a:t>Dependence on video quality</a:t>
                      </a:r>
                    </a:p>
                  </a:txBody>
                  <a:tcPr/>
                </a:tc>
                <a:extLst>
                  <a:ext uri="{0D108BD9-81ED-4DB2-BD59-A6C34878D82A}">
                    <a16:rowId xmlns:a16="http://schemas.microsoft.com/office/drawing/2014/main" val="1994256020"/>
                  </a:ext>
                </a:extLst>
              </a:tr>
              <a:tr h="1510298">
                <a:tc>
                  <a:txBody>
                    <a:bodyPr/>
                    <a:lstStyle/>
                    <a:p>
                      <a:r>
                        <a:rPr lang="en-IN" sz="1200" dirty="0"/>
                        <a:t>4.</a:t>
                      </a:r>
                    </a:p>
                  </a:txBody>
                  <a:tcPr/>
                </a:tc>
                <a:tc>
                  <a:txBody>
                    <a:bodyPr/>
                    <a:lstStyle/>
                    <a:p>
                      <a:r>
                        <a:rPr lang="en-IN" sz="1200" dirty="0"/>
                        <a:t>2019</a:t>
                      </a:r>
                    </a:p>
                  </a:txBody>
                  <a:tcPr/>
                </a:tc>
                <a:tc>
                  <a:txBody>
                    <a:bodyPr/>
                    <a:lstStyle/>
                    <a:p>
                      <a:r>
                        <a:rPr lang="en-US" sz="1200" b="1" dirty="0">
                          <a:hlinkClick r:id="rId5"/>
                        </a:rPr>
                        <a:t>Proposed System for Criminal Detection and Recognition on CCTV Data using Cloud and Machine Learning</a:t>
                      </a:r>
                      <a:endParaRPr lang="en-IN" sz="1200" b="1" dirty="0"/>
                    </a:p>
                  </a:txBody>
                  <a:tcPr/>
                </a:tc>
                <a:tc>
                  <a:txBody>
                    <a:bodyPr/>
                    <a:lstStyle/>
                    <a:p>
                      <a:r>
                        <a:rPr lang="en-IN" sz="1200" dirty="0"/>
                        <a:t>Samit </a:t>
                      </a:r>
                      <a:r>
                        <a:rPr lang="en-IN" sz="1200" dirty="0" err="1"/>
                        <a:t>Shirsat</a:t>
                      </a:r>
                      <a:r>
                        <a:rPr lang="en-IN" sz="1200" dirty="0"/>
                        <a:t>, Aakash Naik, Darshan </a:t>
                      </a:r>
                      <a:r>
                        <a:rPr lang="en-IN" sz="1200" dirty="0" err="1"/>
                        <a:t>Tamse</a:t>
                      </a:r>
                      <a:r>
                        <a:rPr lang="en-IN" sz="1200" dirty="0"/>
                        <a:t>, </a:t>
                      </a:r>
                      <a:r>
                        <a:rPr lang="en-IN" sz="1200" dirty="0" err="1"/>
                        <a:t>Jaysingh</a:t>
                      </a:r>
                      <a:r>
                        <a:rPr lang="en-IN" sz="1200" dirty="0"/>
                        <a:t> Yadav</a:t>
                      </a:r>
                    </a:p>
                  </a:txBody>
                  <a:tcPr/>
                </a:tc>
                <a:tc>
                  <a:txBody>
                    <a:bodyPr/>
                    <a:lstStyle/>
                    <a:p>
                      <a:r>
                        <a:rPr lang="en-US" sz="1200" b="0" dirty="0"/>
                        <a:t>2019 International Conference on Vision Towards Emerging Trends in Communication and Networking</a:t>
                      </a:r>
                      <a:endParaRPr lang="en-IN" sz="1200" b="0" dirty="0"/>
                    </a:p>
                  </a:txBody>
                  <a:tcPr/>
                </a:tc>
                <a:tc>
                  <a:txBody>
                    <a:bodyPr/>
                    <a:lstStyle/>
                    <a:p>
                      <a:r>
                        <a:rPr lang="en-US" sz="1200" dirty="0"/>
                        <a:t>The system uses </a:t>
                      </a:r>
                      <a:r>
                        <a:rPr lang="en-US" sz="1200" b="1" dirty="0"/>
                        <a:t>CCTV cameras and OpenCV-based machine learning algorithms</a:t>
                      </a:r>
                      <a:r>
                        <a:rPr lang="en-US" sz="1200" dirty="0"/>
                        <a:t> to detect and recognize faces. The detected faces are </a:t>
                      </a:r>
                      <a:r>
                        <a:rPr lang="en-US" sz="1200" b="1" dirty="0"/>
                        <a:t>matched with a criminal database stored in the cloud</a:t>
                      </a:r>
                      <a:r>
                        <a:rPr lang="en-US" sz="1200" dirty="0"/>
                        <a:t> to identify criminals automatically.</a:t>
                      </a:r>
                      <a:endParaRPr lang="en-IN" sz="1200" dirty="0"/>
                    </a:p>
                  </a:txBody>
                  <a:tcPr/>
                </a:tc>
                <a:tc>
                  <a:txBody>
                    <a:bodyPr/>
                    <a:lstStyle/>
                    <a:p>
                      <a:r>
                        <a:rPr lang="en-US" sz="1200" dirty="0"/>
                        <a:t>The system solves the problem of </a:t>
                      </a:r>
                      <a:r>
                        <a:rPr lang="en-US" sz="1200" b="1" dirty="0"/>
                        <a:t>slow and inefficient manual monitoring of CCTV footage.</a:t>
                      </a:r>
                      <a:endParaRPr lang="en-IN" sz="1200" dirty="0"/>
                    </a:p>
                  </a:txBody>
                  <a:tcPr/>
                </a:tc>
                <a:tc>
                  <a:txBody>
                    <a:bodyPr/>
                    <a:lstStyle/>
                    <a:p>
                      <a:r>
                        <a:rPr lang="en-US" sz="1200" dirty="0"/>
                        <a:t>The system’s accuracy depends on </a:t>
                      </a:r>
                      <a:r>
                        <a:rPr lang="en-US" sz="1200" b="1" dirty="0"/>
                        <a:t>lighting conditions and image quality</a:t>
                      </a:r>
                      <a:r>
                        <a:rPr lang="en-US" sz="1200" dirty="0"/>
                        <a:t> of CCTV footage.</a:t>
                      </a:r>
                      <a:endParaRPr lang="en-IN" sz="1200" dirty="0"/>
                    </a:p>
                  </a:txBody>
                  <a:tcPr/>
                </a:tc>
                <a:extLst>
                  <a:ext uri="{0D108BD9-81ED-4DB2-BD59-A6C34878D82A}">
                    <a16:rowId xmlns:a16="http://schemas.microsoft.com/office/drawing/2014/main" val="1191413918"/>
                  </a:ext>
                </a:extLst>
              </a:tr>
            </a:tbl>
          </a:graphicData>
        </a:graphic>
      </p:graphicFrame>
    </p:spTree>
    <p:extLst>
      <p:ext uri="{BB962C8B-B14F-4D97-AF65-F5344CB8AC3E}">
        <p14:creationId xmlns:p14="http://schemas.microsoft.com/office/powerpoint/2010/main" val="626048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EFECB5A-83C7-B7D4-21A9-8D6810ADA1AE}"/>
              </a:ext>
            </a:extLst>
          </p:cNvPr>
          <p:cNvGraphicFramePr>
            <a:graphicFrameLocks noGrp="1"/>
          </p:cNvGraphicFramePr>
          <p:nvPr>
            <p:extLst>
              <p:ext uri="{D42A27DB-BD31-4B8C-83A1-F6EECF244321}">
                <p14:modId xmlns:p14="http://schemas.microsoft.com/office/powerpoint/2010/main" val="4188224"/>
              </p:ext>
            </p:extLst>
          </p:nvPr>
        </p:nvGraphicFramePr>
        <p:xfrm>
          <a:off x="178905" y="268356"/>
          <a:ext cx="11658600" cy="5943600"/>
        </p:xfrm>
        <a:graphic>
          <a:graphicData uri="http://schemas.openxmlformats.org/drawingml/2006/table">
            <a:tbl>
              <a:tblPr firstRow="1" bandRow="1">
                <a:tableStyleId>{5C22544A-7EE6-4342-B048-85BDC9FD1C3A}</a:tableStyleId>
              </a:tblPr>
              <a:tblGrid>
                <a:gridCol w="546652">
                  <a:extLst>
                    <a:ext uri="{9D8B030D-6E8A-4147-A177-3AD203B41FA5}">
                      <a16:colId xmlns:a16="http://schemas.microsoft.com/office/drawing/2014/main" val="2378346643"/>
                    </a:ext>
                  </a:extLst>
                </a:gridCol>
                <a:gridCol w="844826">
                  <a:extLst>
                    <a:ext uri="{9D8B030D-6E8A-4147-A177-3AD203B41FA5}">
                      <a16:colId xmlns:a16="http://schemas.microsoft.com/office/drawing/2014/main" val="1178560437"/>
                    </a:ext>
                  </a:extLst>
                </a:gridCol>
                <a:gridCol w="1769165">
                  <a:extLst>
                    <a:ext uri="{9D8B030D-6E8A-4147-A177-3AD203B41FA5}">
                      <a16:colId xmlns:a16="http://schemas.microsoft.com/office/drawing/2014/main" val="2951094627"/>
                    </a:ext>
                  </a:extLst>
                </a:gridCol>
                <a:gridCol w="1451113">
                  <a:extLst>
                    <a:ext uri="{9D8B030D-6E8A-4147-A177-3AD203B41FA5}">
                      <a16:colId xmlns:a16="http://schemas.microsoft.com/office/drawing/2014/main" val="638683537"/>
                    </a:ext>
                  </a:extLst>
                </a:gridCol>
                <a:gridCol w="1470991">
                  <a:extLst>
                    <a:ext uri="{9D8B030D-6E8A-4147-A177-3AD203B41FA5}">
                      <a16:colId xmlns:a16="http://schemas.microsoft.com/office/drawing/2014/main" val="3606910590"/>
                    </a:ext>
                  </a:extLst>
                </a:gridCol>
                <a:gridCol w="2067339">
                  <a:extLst>
                    <a:ext uri="{9D8B030D-6E8A-4147-A177-3AD203B41FA5}">
                      <a16:colId xmlns:a16="http://schemas.microsoft.com/office/drawing/2014/main" val="1826594706"/>
                    </a:ext>
                  </a:extLst>
                </a:gridCol>
                <a:gridCol w="1699592">
                  <a:extLst>
                    <a:ext uri="{9D8B030D-6E8A-4147-A177-3AD203B41FA5}">
                      <a16:colId xmlns:a16="http://schemas.microsoft.com/office/drawing/2014/main" val="1903113525"/>
                    </a:ext>
                  </a:extLst>
                </a:gridCol>
                <a:gridCol w="1808922">
                  <a:extLst>
                    <a:ext uri="{9D8B030D-6E8A-4147-A177-3AD203B41FA5}">
                      <a16:colId xmlns:a16="http://schemas.microsoft.com/office/drawing/2014/main" val="3470507756"/>
                    </a:ext>
                  </a:extLst>
                </a:gridCol>
              </a:tblGrid>
              <a:tr h="0">
                <a:tc>
                  <a:txBody>
                    <a:bodyPr/>
                    <a:lstStyle/>
                    <a:p>
                      <a:r>
                        <a:rPr lang="en-IN" sz="1200" b="1" dirty="0">
                          <a:solidFill>
                            <a:schemeClr val="tx1"/>
                          </a:solidFill>
                        </a:rPr>
                        <a:t>5.</a:t>
                      </a:r>
                    </a:p>
                  </a:txBody>
                  <a:tcPr>
                    <a:solidFill>
                      <a:srgbClr val="E9EBF5"/>
                    </a:solidFill>
                  </a:tcPr>
                </a:tc>
                <a:tc>
                  <a:txBody>
                    <a:bodyPr/>
                    <a:lstStyle/>
                    <a:p>
                      <a:r>
                        <a:rPr lang="en-IN" sz="1200" b="0" dirty="0">
                          <a:solidFill>
                            <a:schemeClr val="tx1"/>
                          </a:solidFill>
                        </a:rPr>
                        <a:t>2025</a:t>
                      </a:r>
                    </a:p>
                  </a:txBody>
                  <a:tcP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hlinkClick r:id="rId2"/>
                        </a:rPr>
                        <a:t>A</a:t>
                      </a:r>
                      <a:r>
                        <a:rPr lang="en-US" sz="1200" b="0" dirty="0">
                          <a:solidFill>
                            <a:schemeClr val="tx1"/>
                          </a:solidFill>
                          <a:hlinkClick r:id="rId2"/>
                        </a:rPr>
                        <a:t> </a:t>
                      </a:r>
                      <a:r>
                        <a:rPr lang="en-US" sz="1200" b="1" dirty="0">
                          <a:solidFill>
                            <a:schemeClr val="tx1"/>
                          </a:solidFill>
                          <a:hlinkClick r:id="rId2"/>
                        </a:rPr>
                        <a:t>Lightweight Real-Time CCTV Surveillance Framework for the Education Sector Using Machine Learning.</a:t>
                      </a:r>
                      <a:endParaRPr lang="en-US" sz="1200" b="1" dirty="0">
                        <a:solidFill>
                          <a:schemeClr val="tx1"/>
                        </a:solidFill>
                      </a:endParaRPr>
                    </a:p>
                  </a:txBody>
                  <a:tcPr>
                    <a:solidFill>
                      <a:srgbClr val="E9EBF5"/>
                    </a:solidFill>
                  </a:tcPr>
                </a:tc>
                <a:tc>
                  <a:txBody>
                    <a:bodyPr/>
                    <a:lstStyle/>
                    <a:p>
                      <a:r>
                        <a:rPr lang="en-IN" sz="1200" dirty="0">
                          <a:solidFill>
                            <a:schemeClr val="tx1"/>
                          </a:solidFill>
                        </a:rPr>
                        <a:t>Naeem Ahmed, Abdullah Alqahtani, Fahad Alotaibi</a:t>
                      </a:r>
                    </a:p>
                  </a:txBody>
                  <a:tcP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Journal of Advances in Information Technology (JAIT)</a:t>
                      </a:r>
                      <a:endParaRPr lang="en-US" sz="1200" dirty="0">
                        <a:solidFill>
                          <a:schemeClr val="tx1"/>
                        </a:solidFill>
                      </a:endParaRPr>
                    </a:p>
                  </a:txBody>
                  <a:tcPr>
                    <a:solidFill>
                      <a:srgbClr val="E9EBF5"/>
                    </a:solidFill>
                  </a:tcPr>
                </a:tc>
                <a:tc>
                  <a:txBody>
                    <a:bodyPr/>
                    <a:lstStyle/>
                    <a:p>
                      <a:r>
                        <a:rPr lang="en-US" sz="1200" dirty="0">
                          <a:solidFill>
                            <a:schemeClr val="tx1"/>
                          </a:solidFill>
                        </a:rPr>
                        <a:t>Uses </a:t>
                      </a:r>
                      <a:r>
                        <a:rPr lang="en-US" sz="1200" b="1" dirty="0">
                          <a:solidFill>
                            <a:schemeClr val="tx1"/>
                          </a:solidFill>
                        </a:rPr>
                        <a:t>CCTV with machine learning (Haar Cascade, </a:t>
                      </a:r>
                      <a:r>
                        <a:rPr lang="en-US" sz="1200" b="1" dirty="0" err="1">
                          <a:solidFill>
                            <a:schemeClr val="tx1"/>
                          </a:solidFill>
                        </a:rPr>
                        <a:t>FaceNet</a:t>
                      </a:r>
                      <a:r>
                        <a:rPr lang="en-US" sz="1200" b="1" dirty="0">
                          <a:solidFill>
                            <a:schemeClr val="tx1"/>
                          </a:solidFill>
                        </a:rPr>
                        <a:t>, SVM)</a:t>
                      </a:r>
                      <a:r>
                        <a:rPr lang="en-US" sz="1200" dirty="0">
                          <a:solidFill>
                            <a:schemeClr val="tx1"/>
                          </a:solidFill>
                        </a:rPr>
                        <a:t> to detect and recognize people in real time.</a:t>
                      </a:r>
                      <a:endParaRPr lang="en-IN" sz="1200" dirty="0">
                        <a:solidFill>
                          <a:schemeClr val="tx1"/>
                        </a:solidFill>
                      </a:endParaRPr>
                    </a:p>
                  </a:txBody>
                  <a:tcPr>
                    <a:solidFill>
                      <a:srgbClr val="E9EBF5"/>
                    </a:solidFill>
                  </a:tcPr>
                </a:tc>
                <a:tc>
                  <a:txBody>
                    <a:bodyPr/>
                    <a:lstStyle/>
                    <a:p>
                      <a:r>
                        <a:rPr lang="en-US" sz="1200" dirty="0">
                          <a:solidFill>
                            <a:schemeClr val="tx1"/>
                          </a:solidFill>
                        </a:rPr>
                        <a:t>Provides </a:t>
                      </a:r>
                      <a:r>
                        <a:rPr lang="en-US" sz="1200" b="1" dirty="0">
                          <a:solidFill>
                            <a:schemeClr val="tx1"/>
                          </a:solidFill>
                        </a:rPr>
                        <a:t>automated real-time surveillance</a:t>
                      </a:r>
                      <a:r>
                        <a:rPr lang="en-US" sz="1200" dirty="0">
                          <a:solidFill>
                            <a:schemeClr val="tx1"/>
                          </a:solidFill>
                        </a:rPr>
                        <a:t> and improves </a:t>
                      </a:r>
                      <a:r>
                        <a:rPr lang="en-US" sz="1200" b="1" dirty="0">
                          <a:solidFill>
                            <a:schemeClr val="tx1"/>
                          </a:solidFill>
                        </a:rPr>
                        <a:t>security by detecting unauthorized persons quickly</a:t>
                      </a:r>
                      <a:r>
                        <a:rPr lang="en-US" sz="1200" dirty="0">
                          <a:solidFill>
                            <a:schemeClr val="tx1"/>
                          </a:solidFill>
                        </a:rPr>
                        <a:t>.</a:t>
                      </a:r>
                      <a:endParaRPr lang="en-IN" sz="1200" dirty="0">
                        <a:solidFill>
                          <a:schemeClr val="tx1"/>
                        </a:solidFill>
                      </a:endParaRPr>
                    </a:p>
                  </a:txBody>
                  <a:tcPr>
                    <a:solidFill>
                      <a:srgbClr val="E9EBF5"/>
                    </a:solidFill>
                  </a:tcPr>
                </a:tc>
                <a:tc>
                  <a:txBody>
                    <a:bodyPr/>
                    <a:lstStyle/>
                    <a:p>
                      <a:r>
                        <a:rPr lang="en-US" sz="1200" dirty="0">
                          <a:solidFill>
                            <a:schemeClr val="tx1"/>
                          </a:solidFill>
                        </a:rPr>
                        <a:t>Accuracy may reduce due to </a:t>
                      </a:r>
                      <a:r>
                        <a:rPr lang="en-US" sz="1200" b="1" dirty="0">
                          <a:solidFill>
                            <a:schemeClr val="tx1"/>
                          </a:solidFill>
                        </a:rPr>
                        <a:t>poor lighting or image quality</a:t>
                      </a:r>
                      <a:r>
                        <a:rPr lang="en-US" sz="1200" dirty="0">
                          <a:solidFill>
                            <a:schemeClr val="tx1"/>
                          </a:solidFill>
                        </a:rPr>
                        <a:t> and requires </a:t>
                      </a:r>
                      <a:r>
                        <a:rPr lang="en-US" sz="1200" b="1" dirty="0">
                          <a:solidFill>
                            <a:schemeClr val="tx1"/>
                          </a:solidFill>
                        </a:rPr>
                        <a:t>good dataset and computing resources</a:t>
                      </a:r>
                      <a:r>
                        <a:rPr lang="en-US" sz="1200" dirty="0">
                          <a:solidFill>
                            <a:schemeClr val="tx1"/>
                          </a:solidFill>
                        </a:rPr>
                        <a:t>.</a:t>
                      </a:r>
                      <a:endParaRPr lang="en-IN" sz="1200" dirty="0">
                        <a:solidFill>
                          <a:schemeClr val="tx1"/>
                        </a:solidFill>
                      </a:endParaRPr>
                    </a:p>
                  </a:txBody>
                  <a:tcPr>
                    <a:solidFill>
                      <a:srgbClr val="E9EBF5"/>
                    </a:solidFill>
                  </a:tcPr>
                </a:tc>
                <a:extLst>
                  <a:ext uri="{0D108BD9-81ED-4DB2-BD59-A6C34878D82A}">
                    <a16:rowId xmlns:a16="http://schemas.microsoft.com/office/drawing/2014/main" val="3940653382"/>
                  </a:ext>
                </a:extLst>
              </a:tr>
              <a:tr h="0">
                <a:tc>
                  <a:txBody>
                    <a:bodyPr/>
                    <a:lstStyle/>
                    <a:p>
                      <a:r>
                        <a:rPr lang="en-IN" sz="1200" b="1" dirty="0"/>
                        <a:t>6.</a:t>
                      </a:r>
                    </a:p>
                  </a:txBody>
                  <a:tcPr/>
                </a:tc>
                <a:tc>
                  <a:txBody>
                    <a:bodyPr/>
                    <a:lstStyle/>
                    <a:p>
                      <a:r>
                        <a:rPr lang="en-IN" sz="1200" dirty="0"/>
                        <a:t>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Deep Learning Based Smart Surveillance System for Suspicious Activity Detection</a:t>
                      </a:r>
                      <a:endParaRPr lang="en-US" sz="1200" dirty="0"/>
                    </a:p>
                    <a:p>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A. K. Singh, P. K. Singh, and other co-authors</a:t>
                      </a:r>
                    </a:p>
                    <a:p>
                      <a:endParaRPr lang="en-IN" sz="1200" dirty="0"/>
                    </a:p>
                  </a:txBody>
                  <a:tcPr/>
                </a:tc>
                <a:tc>
                  <a:txBody>
                    <a:bodyPr/>
                    <a:lstStyle/>
                    <a:p>
                      <a:r>
                        <a:rPr lang="en-US" sz="1200" b="0" dirty="0"/>
                        <a:t>Materials Today: Proceedings (Elsevier / ScienceDirect)</a:t>
                      </a:r>
                      <a:endParaRPr lang="en-IN" sz="1200" b="0" dirty="0"/>
                    </a:p>
                  </a:txBody>
                  <a:tcPr/>
                </a:tc>
                <a:tc>
                  <a:txBody>
                    <a:bodyPr/>
                    <a:lstStyle/>
                    <a:p>
                      <a:r>
                        <a:rPr lang="en-US" sz="1200" dirty="0"/>
                        <a:t>Uses </a:t>
                      </a:r>
                      <a:r>
                        <a:rPr lang="en-US" sz="1200" b="1" dirty="0"/>
                        <a:t>deep learning to analyze CCTV video frames</a:t>
                      </a:r>
                      <a:r>
                        <a:rPr lang="en-US" sz="1200" dirty="0"/>
                        <a:t> and detect suspicious activities automatically.</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Reduces </a:t>
                      </a:r>
                      <a:r>
                        <a:rPr lang="en-US" sz="1200" b="1" dirty="0"/>
                        <a:t>manual CCTV monitoring</a:t>
                      </a:r>
                      <a:r>
                        <a:rPr lang="en-US" sz="1200" dirty="0"/>
                        <a:t> and enables </a:t>
                      </a:r>
                      <a:r>
                        <a:rPr lang="en-US" sz="1200" b="1" dirty="0"/>
                        <a:t>automatic detection of suspicious behavior</a:t>
                      </a:r>
                      <a:r>
                        <a:rPr lang="en-US" sz="1200" dirty="0"/>
                        <a:t>.</a:t>
                      </a:r>
                    </a:p>
                    <a:p>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Performance may reduce due to </a:t>
                      </a:r>
                      <a:r>
                        <a:rPr lang="en-US" sz="1200" b="1" dirty="0"/>
                        <a:t>poor video quality</a:t>
                      </a:r>
                      <a:r>
                        <a:rPr lang="en-US" sz="1200" dirty="0"/>
                        <a:t> and requires </a:t>
                      </a:r>
                      <a:r>
                        <a:rPr lang="en-US" sz="1200" b="1" dirty="0"/>
                        <a:t>large datasets and high computation</a:t>
                      </a:r>
                      <a:r>
                        <a:rPr lang="en-US" sz="1200" dirty="0"/>
                        <a:t>.</a:t>
                      </a:r>
                    </a:p>
                    <a:p>
                      <a:endParaRPr lang="en-IN" sz="1200" dirty="0"/>
                    </a:p>
                  </a:txBody>
                  <a:tcPr/>
                </a:tc>
                <a:extLst>
                  <a:ext uri="{0D108BD9-81ED-4DB2-BD59-A6C34878D82A}">
                    <a16:rowId xmlns:a16="http://schemas.microsoft.com/office/drawing/2014/main" val="1890873227"/>
                  </a:ext>
                </a:extLst>
              </a:tr>
              <a:tr h="946657">
                <a:tc>
                  <a:txBody>
                    <a:bodyPr/>
                    <a:lstStyle/>
                    <a:p>
                      <a:r>
                        <a:rPr lang="en-IN" sz="1200" b="1" dirty="0"/>
                        <a:t>7.</a:t>
                      </a:r>
                    </a:p>
                  </a:txBody>
                  <a:tcPr/>
                </a:tc>
                <a:tc>
                  <a:txBody>
                    <a:bodyPr/>
                    <a:lstStyle/>
                    <a:p>
                      <a:r>
                        <a:rPr lang="en-IN" sz="1200" dirty="0"/>
                        <a:t>2021</a:t>
                      </a:r>
                    </a:p>
                  </a:txBody>
                  <a:tcPr/>
                </a:tc>
                <a:tc>
                  <a:txBody>
                    <a:bodyPr/>
                    <a:lstStyle/>
                    <a:p>
                      <a:r>
                        <a:rPr lang="en-US" sz="1200" b="1" dirty="0"/>
                        <a:t>Design of an Intelligent Video Surveillance System for Crime Prevention: Applying Deep Learning Technology</a:t>
                      </a:r>
                      <a:endParaRPr lang="en-IN" sz="1200" b="1" dirty="0"/>
                    </a:p>
                  </a:txBody>
                  <a:tcPr/>
                </a:tc>
                <a:tc>
                  <a:txBody>
                    <a:bodyPr/>
                    <a:lstStyle/>
                    <a:p>
                      <a:r>
                        <a:rPr lang="en-IN" sz="1200" dirty="0"/>
                        <a:t>Chang-Soo Sung, Joo-Yeon Park</a:t>
                      </a:r>
                    </a:p>
                  </a:txBody>
                  <a:tcPr/>
                </a:tc>
                <a:tc>
                  <a:txBody>
                    <a:bodyPr/>
                    <a:lstStyle/>
                    <a:p>
                      <a:r>
                        <a:rPr lang="en-US" sz="1200" b="0" dirty="0"/>
                        <a:t>Multimedia Tools and Applications (Springer)</a:t>
                      </a:r>
                      <a:endParaRPr lang="en-IN" sz="1200" b="0" dirty="0"/>
                    </a:p>
                  </a:txBody>
                  <a:tcPr/>
                </a:tc>
                <a:tc>
                  <a:txBody>
                    <a:bodyPr/>
                    <a:lstStyle/>
                    <a:p>
                      <a:r>
                        <a:rPr lang="en-US" sz="1200" dirty="0"/>
                        <a:t>Uses </a:t>
                      </a:r>
                      <a:r>
                        <a:rPr lang="en-US" sz="1200" b="1" dirty="0"/>
                        <a:t>deep learning with CCTV video analysis</a:t>
                      </a:r>
                      <a:r>
                        <a:rPr lang="en-US" sz="1200" dirty="0"/>
                        <a:t> to automatically detect suspicious activities and crimes in real time.</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Reduces </a:t>
                      </a:r>
                      <a:r>
                        <a:rPr lang="en-US" sz="1200" b="1" dirty="0"/>
                        <a:t>manual CCTV monitoring</a:t>
                      </a:r>
                      <a:r>
                        <a:rPr lang="en-US" sz="1200" dirty="0"/>
                        <a:t> and enables </a:t>
                      </a:r>
                      <a:r>
                        <a:rPr lang="en-US" sz="1200" b="1" dirty="0"/>
                        <a:t>automatic crime detection for faster response</a:t>
                      </a:r>
                      <a:r>
                        <a:rPr lang="en-US" sz="1200" dirty="0"/>
                        <a:t>.</a:t>
                      </a:r>
                    </a:p>
                    <a:p>
                      <a:endParaRPr lang="en-IN" sz="1200" dirty="0"/>
                    </a:p>
                  </a:txBody>
                  <a:tcPr/>
                </a:tc>
                <a:tc>
                  <a:txBody>
                    <a:bodyPr/>
                    <a:lstStyle/>
                    <a:p>
                      <a:r>
                        <a:rPr lang="en-US" sz="1200" dirty="0"/>
                        <a:t>Performance may be affected by </a:t>
                      </a:r>
                      <a:r>
                        <a:rPr lang="en-US" sz="1200" b="1" dirty="0"/>
                        <a:t>complex environments and video quality</a:t>
                      </a:r>
                      <a:r>
                        <a:rPr lang="en-US" sz="1200" dirty="0"/>
                        <a:t>, and deep learning models require </a:t>
                      </a:r>
                      <a:r>
                        <a:rPr lang="en-US" sz="1200" b="1" dirty="0"/>
                        <a:t>large training data and high computation</a:t>
                      </a:r>
                      <a:r>
                        <a:rPr lang="en-US" sz="1200" dirty="0"/>
                        <a:t>.</a:t>
                      </a:r>
                      <a:endParaRPr lang="en-IN" sz="1200" dirty="0"/>
                    </a:p>
                  </a:txBody>
                  <a:tcPr/>
                </a:tc>
                <a:extLst>
                  <a:ext uri="{0D108BD9-81ED-4DB2-BD59-A6C34878D82A}">
                    <a16:rowId xmlns:a16="http://schemas.microsoft.com/office/drawing/2014/main" val="1205592911"/>
                  </a:ext>
                </a:extLst>
              </a:tr>
              <a:tr h="946657">
                <a:tc>
                  <a:txBody>
                    <a:bodyPr/>
                    <a:lstStyle/>
                    <a:p>
                      <a:r>
                        <a:rPr lang="en-IN" sz="1200" b="1" dirty="0"/>
                        <a:t>8.</a:t>
                      </a:r>
                    </a:p>
                  </a:txBody>
                  <a:tcPr/>
                </a:tc>
                <a:tc>
                  <a:txBody>
                    <a:bodyPr/>
                    <a:lstStyle/>
                    <a:p>
                      <a:r>
                        <a:rPr lang="en-IN" sz="1200" dirty="0"/>
                        <a:t>2022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AI-Based Intelligent Video Surveillance System for Security Monitoring</a:t>
                      </a:r>
                      <a:endParaRPr lang="en-US" sz="1200" dirty="0"/>
                    </a:p>
                    <a:p>
                      <a:endParaRPr lang="en-IN" sz="1200" dirty="0"/>
                    </a:p>
                  </a:txBody>
                  <a:tcPr/>
                </a:tc>
                <a:tc>
                  <a:txBody>
                    <a:bodyPr/>
                    <a:lstStyle/>
                    <a:p>
                      <a:r>
                        <a:rPr lang="en-US" sz="1200" dirty="0"/>
                        <a:t>A. Al-Ghamdi, M. Al-Harbi, and other co-authors</a:t>
                      </a:r>
                      <a:endParaRPr lang="en-IN" sz="1200" dirty="0"/>
                    </a:p>
                  </a:txBody>
                  <a:tcPr/>
                </a:tc>
                <a:tc>
                  <a:txBody>
                    <a:bodyPr/>
                    <a:lstStyle/>
                    <a:p>
                      <a:r>
                        <a:rPr lang="en-IN" sz="1200" b="0" dirty="0"/>
                        <a:t>Abu Dhabi International Petroleum Exhibition &amp; Conference (ADIPEC)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Uses </a:t>
                      </a:r>
                      <a:r>
                        <a:rPr lang="en-US" sz="1200" b="1" dirty="0"/>
                        <a:t>AI and computer vision to analyze CCTV video streams</a:t>
                      </a:r>
                      <a:r>
                        <a:rPr lang="en-US" sz="1200" dirty="0"/>
                        <a:t> and detect suspicious activities automatically.</a:t>
                      </a:r>
                    </a:p>
                    <a:p>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Provides </a:t>
                      </a:r>
                      <a:r>
                        <a:rPr lang="en-US" sz="1200" b="1" dirty="0"/>
                        <a:t>real-time automated surveillance</a:t>
                      </a:r>
                      <a:r>
                        <a:rPr lang="en-US" sz="1200" dirty="0"/>
                        <a:t> and reduces </a:t>
                      </a:r>
                      <a:r>
                        <a:rPr lang="en-US" sz="1200" b="1" dirty="0"/>
                        <a:t>manual monitoring effort</a:t>
                      </a:r>
                      <a:r>
                        <a:rPr lang="en-US" sz="1200" dirty="0"/>
                        <a:t>.</a:t>
                      </a:r>
                    </a:p>
                    <a:p>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Performance may depend on </a:t>
                      </a:r>
                      <a:r>
                        <a:rPr lang="en-US" sz="1200" b="1" dirty="0"/>
                        <a:t>video quality and computational resources</a:t>
                      </a:r>
                      <a:r>
                        <a:rPr lang="en-US" sz="1200" dirty="0"/>
                        <a:t>.</a:t>
                      </a:r>
                    </a:p>
                    <a:p>
                      <a:endParaRPr lang="en-IN" sz="1200" dirty="0"/>
                    </a:p>
                  </a:txBody>
                  <a:tcPr/>
                </a:tc>
                <a:extLst>
                  <a:ext uri="{0D108BD9-81ED-4DB2-BD59-A6C34878D82A}">
                    <a16:rowId xmlns:a16="http://schemas.microsoft.com/office/drawing/2014/main" val="4281436720"/>
                  </a:ext>
                </a:extLst>
              </a:tr>
              <a:tr h="946657">
                <a:tc>
                  <a:txBody>
                    <a:bodyPr/>
                    <a:lstStyle/>
                    <a:p>
                      <a:r>
                        <a:rPr lang="en-IN" sz="1200" dirty="0"/>
                        <a:t>9.</a:t>
                      </a:r>
                    </a:p>
                  </a:txBody>
                  <a:tcPr/>
                </a:tc>
                <a:tc>
                  <a:txBody>
                    <a:bodyPr/>
                    <a:lstStyle/>
                    <a:p>
                      <a:r>
                        <a:rPr lang="en-IN" sz="1200" dirty="0"/>
                        <a:t>2024</a:t>
                      </a:r>
                    </a:p>
                  </a:txBody>
                  <a:tcPr/>
                </a:tc>
                <a:tc>
                  <a:txBody>
                    <a:bodyPr/>
                    <a:lstStyle/>
                    <a:p>
                      <a:r>
                        <a:rPr lang="en-US" sz="1200" b="1" dirty="0">
                          <a:hlinkClick r:id="rId3"/>
                        </a:rPr>
                        <a:t>Design of a Real-Time Crime Monitoring System Using Deep Learning Techniques</a:t>
                      </a:r>
                      <a:r>
                        <a:rPr lang="en-US" sz="1200" dirty="0">
                          <a:hlinkClick r:id="rId3"/>
                        </a:rPr>
                        <a:t> </a:t>
                      </a:r>
                      <a:endParaRPr lang="en-IN" sz="1200" dirty="0"/>
                    </a:p>
                  </a:txBody>
                  <a:tcPr/>
                </a:tc>
                <a:tc>
                  <a:txBody>
                    <a:bodyPr/>
                    <a:lstStyle/>
                    <a:p>
                      <a:r>
                        <a:rPr lang="en-IN" sz="1200" dirty="0"/>
                        <a:t>Md. Muktadir </a:t>
                      </a:r>
                      <a:r>
                        <a:rPr lang="en-IN" sz="1200" dirty="0" err="1"/>
                        <a:t>Mukto</a:t>
                      </a:r>
                      <a:r>
                        <a:rPr lang="en-IN" sz="1200" dirty="0"/>
                        <a:t>, </a:t>
                      </a:r>
                      <a:r>
                        <a:rPr lang="en-IN" sz="1200" dirty="0" err="1"/>
                        <a:t>Mahamudul</a:t>
                      </a:r>
                      <a:r>
                        <a:rPr lang="en-IN" sz="1200" dirty="0"/>
                        <a:t> Hasan, Md. </a:t>
                      </a:r>
                      <a:r>
                        <a:rPr lang="en-IN" sz="1200" dirty="0" err="1"/>
                        <a:t>Maiyaz</a:t>
                      </a:r>
                      <a:r>
                        <a:rPr lang="en-IN" sz="1200" dirty="0"/>
                        <a:t> Al Mahmud</a:t>
                      </a:r>
                    </a:p>
                  </a:txBody>
                  <a:tcPr/>
                </a:tc>
                <a:tc>
                  <a:txBody>
                    <a:bodyPr/>
                    <a:lstStyle/>
                    <a:p>
                      <a:r>
                        <a:rPr lang="en-US" sz="1200" b="0" dirty="0"/>
                        <a:t>Intelligent Systems with Applications (Elsevier / ScienceDirect)</a:t>
                      </a:r>
                      <a:endParaRPr lang="en-IN" sz="1200" b="0" dirty="0"/>
                    </a:p>
                  </a:txBody>
                  <a:tcPr/>
                </a:tc>
                <a:tc>
                  <a:txBody>
                    <a:bodyPr/>
                    <a:lstStyle/>
                    <a:p>
                      <a:r>
                        <a:rPr lang="en-US" sz="1200" dirty="0"/>
                        <a:t>Uses </a:t>
                      </a:r>
                      <a:r>
                        <a:rPr lang="en-US" sz="1200" b="1" dirty="0"/>
                        <a:t>deep learning with CCTV surveillance</a:t>
                      </a:r>
                      <a:r>
                        <a:rPr lang="en-US" sz="1200" dirty="0"/>
                        <a:t> to detect crimes in real time through </a:t>
                      </a:r>
                      <a:r>
                        <a:rPr lang="en-US" sz="1200" b="1" dirty="0"/>
                        <a:t>weapon detection, violence detection, and face recognition</a:t>
                      </a:r>
                      <a:r>
                        <a:rPr lang="en-US" sz="1200" dirty="0"/>
                        <a:t>.</a:t>
                      </a:r>
                      <a:endParaRPr lang="en-IN" sz="1200" dirty="0"/>
                    </a:p>
                  </a:txBody>
                  <a:tcPr/>
                </a:tc>
                <a:tc>
                  <a:txBody>
                    <a:bodyPr/>
                    <a:lstStyle/>
                    <a:p>
                      <a:r>
                        <a:rPr lang="en-US" sz="1200" dirty="0"/>
                        <a:t>Automates </a:t>
                      </a:r>
                      <a:r>
                        <a:rPr lang="en-US" sz="1200" b="1" dirty="0"/>
                        <a:t>crime monitoring and reduces human CCTV supervision</a:t>
                      </a:r>
                      <a:r>
                        <a:rPr lang="en-US" sz="1200" dirty="0"/>
                        <a:t> by detecting criminal activities instantly.</a:t>
                      </a:r>
                      <a:endParaRPr lang="en-IN" sz="1200" dirty="0"/>
                    </a:p>
                  </a:txBody>
                  <a:tcPr/>
                </a:tc>
                <a:tc>
                  <a:txBody>
                    <a:bodyPr/>
                    <a:lstStyle/>
                    <a:p>
                      <a:r>
                        <a:rPr lang="en-US" sz="1200" dirty="0"/>
                        <a:t>Accuracy may depend on </a:t>
                      </a:r>
                      <a:r>
                        <a:rPr lang="en-US" sz="1200" b="1" dirty="0"/>
                        <a:t>dataset quality and computational resources</a:t>
                      </a:r>
                      <a:r>
                        <a:rPr lang="en-US" sz="1200" dirty="0"/>
                        <a:t> for deep learning models.</a:t>
                      </a:r>
                      <a:endParaRPr lang="en-IN" sz="1200" dirty="0"/>
                    </a:p>
                  </a:txBody>
                  <a:tcPr/>
                </a:tc>
                <a:extLst>
                  <a:ext uri="{0D108BD9-81ED-4DB2-BD59-A6C34878D82A}">
                    <a16:rowId xmlns:a16="http://schemas.microsoft.com/office/drawing/2014/main" val="2123478732"/>
                  </a:ext>
                </a:extLst>
              </a:tr>
            </a:tbl>
          </a:graphicData>
        </a:graphic>
      </p:graphicFrame>
    </p:spTree>
    <p:extLst>
      <p:ext uri="{BB962C8B-B14F-4D97-AF65-F5344CB8AC3E}">
        <p14:creationId xmlns:p14="http://schemas.microsoft.com/office/powerpoint/2010/main" val="213715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A22DC-9B26-AB7D-BF64-73E290603224}"/>
              </a:ext>
            </a:extLst>
          </p:cNvPr>
          <p:cNvSpPr txBox="1"/>
          <p:nvPr/>
        </p:nvSpPr>
        <p:spPr>
          <a:xfrm>
            <a:off x="974035" y="1374915"/>
            <a:ext cx="9330824" cy="4247317"/>
          </a:xfrm>
          <a:prstGeom prst="rect">
            <a:avLst/>
          </a:prstGeom>
          <a:noFill/>
        </p:spPr>
        <p:txBody>
          <a:bodyPr wrap="none" rtlCol="0">
            <a:spAutoFit/>
          </a:bodyPr>
          <a:lstStyle/>
          <a:p>
            <a:pPr marL="342900" indent="-342900">
              <a:buFont typeface="+mj-lt"/>
              <a:buAutoNum type="arabicPeriod"/>
            </a:pPr>
            <a:r>
              <a:rPr lang="en-US" b="1" dirty="0"/>
              <a:t>Data Dependency:</a:t>
            </a:r>
            <a:r>
              <a:rPr lang="en-US" dirty="0"/>
              <a:t> Performance drops with poor lighting, low-quality or limited datasets.</a:t>
            </a:r>
          </a:p>
          <a:p>
            <a:pPr marL="342900" indent="-342900">
              <a:buFont typeface="+mj-lt"/>
              <a:buAutoNum type="arabicPeriod"/>
            </a:pPr>
            <a:endParaRPr lang="en-US" dirty="0"/>
          </a:p>
          <a:p>
            <a:pPr marL="342900" indent="-342900">
              <a:buFont typeface="+mj-lt"/>
              <a:buAutoNum type="arabicPeriod"/>
            </a:pPr>
            <a:r>
              <a:rPr lang="en-US" b="1" dirty="0"/>
              <a:t>High Computational Cost:</a:t>
            </a:r>
            <a:r>
              <a:rPr lang="en-US" dirty="0"/>
              <a:t> Requires GPUs and high resources, not suitable for low-cost setups.</a:t>
            </a:r>
          </a:p>
          <a:p>
            <a:pPr marL="342900" indent="-342900">
              <a:buFont typeface="+mj-lt"/>
              <a:buAutoNum type="arabicPeriod"/>
            </a:pPr>
            <a:endParaRPr lang="en-US" dirty="0"/>
          </a:p>
          <a:p>
            <a:pPr marL="342900" indent="-342900">
              <a:buFont typeface="+mj-lt"/>
              <a:buAutoNum type="arabicPeriod"/>
            </a:pPr>
            <a:r>
              <a:rPr lang="en-US" b="1" dirty="0"/>
              <a:t>Poor Performance in Complex Scenes:</a:t>
            </a:r>
            <a:r>
              <a:rPr lang="en-US" dirty="0"/>
              <a:t> Struggles in crowded and dynamic environments.</a:t>
            </a:r>
          </a:p>
          <a:p>
            <a:r>
              <a:rPr lang="en-US" dirty="0"/>
              <a:t> </a:t>
            </a:r>
          </a:p>
          <a:p>
            <a:r>
              <a:rPr lang="en-US" b="1" dirty="0"/>
              <a:t>4.   Lack of Integrated System:</a:t>
            </a:r>
            <a:r>
              <a:rPr lang="en-US" dirty="0"/>
              <a:t> Most works focus on single tasks (only detection or recognition).</a:t>
            </a:r>
          </a:p>
          <a:p>
            <a:r>
              <a:rPr lang="en-US" dirty="0"/>
              <a:t> </a:t>
            </a:r>
          </a:p>
          <a:p>
            <a:r>
              <a:rPr lang="en-US" b="1" dirty="0"/>
              <a:t>5.   Low Generalization:</a:t>
            </a:r>
            <a:r>
              <a:rPr lang="en-US" dirty="0"/>
              <a:t> Models fail to adapt to different environments. </a:t>
            </a:r>
          </a:p>
          <a:p>
            <a:pPr marL="342900" indent="-342900">
              <a:buFont typeface="+mj-lt"/>
              <a:buAutoNum type="arabicPeriod"/>
            </a:pPr>
            <a:endParaRPr lang="en-US" dirty="0"/>
          </a:p>
          <a:p>
            <a:r>
              <a:rPr lang="en-US" b="1" dirty="0"/>
              <a:t>6.   Limited Automation:</a:t>
            </a:r>
            <a:r>
              <a:rPr lang="en-US" dirty="0"/>
              <a:t> Weak alert/response mechanisms after detection. </a:t>
            </a:r>
          </a:p>
          <a:p>
            <a:br>
              <a:rPr lang="en-US" dirty="0"/>
            </a:br>
            <a:endParaRPr lang="en-US" dirty="0"/>
          </a:p>
          <a:p>
            <a:endParaRPr lang="en-US" b="1" dirty="0"/>
          </a:p>
          <a:p>
            <a:endParaRPr lang="en-IN" dirty="0"/>
          </a:p>
        </p:txBody>
      </p:sp>
      <p:sp>
        <p:nvSpPr>
          <p:cNvPr id="3" name="TextBox 2">
            <a:extLst>
              <a:ext uri="{FF2B5EF4-FFF2-40B4-BE49-F238E27FC236}">
                <a16:creationId xmlns:a16="http://schemas.microsoft.com/office/drawing/2014/main" id="{D7769559-6985-C674-593C-AC7B12208FBE}"/>
              </a:ext>
            </a:extLst>
          </p:cNvPr>
          <p:cNvSpPr txBox="1"/>
          <p:nvPr/>
        </p:nvSpPr>
        <p:spPr>
          <a:xfrm>
            <a:off x="586408" y="159027"/>
            <a:ext cx="5929828" cy="646331"/>
          </a:xfrm>
          <a:prstGeom prst="rect">
            <a:avLst/>
          </a:prstGeom>
          <a:noFill/>
        </p:spPr>
        <p:txBody>
          <a:bodyPr wrap="none" rtlCol="0">
            <a:spAutoFit/>
          </a:bodyPr>
          <a:lstStyle/>
          <a:p>
            <a:r>
              <a:rPr lang="en-IN" sz="3600" b="1" dirty="0">
                <a:latin typeface="Arial Black" panose="020B0A04020102020204" pitchFamily="34" charset="0"/>
              </a:rPr>
              <a:t>KEY GAPS IDENTIFIED</a:t>
            </a:r>
          </a:p>
        </p:txBody>
      </p:sp>
    </p:spTree>
    <p:extLst>
      <p:ext uri="{BB962C8B-B14F-4D97-AF65-F5344CB8AC3E}">
        <p14:creationId xmlns:p14="http://schemas.microsoft.com/office/powerpoint/2010/main" val="1882001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6F69C-5646-40FE-A296-D32ADAFB5D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649237-6F7D-48EE-1F08-A0BAD5DE14C0}"/>
              </a:ext>
            </a:extLst>
          </p:cNvPr>
          <p:cNvSpPr txBox="1"/>
          <p:nvPr/>
        </p:nvSpPr>
        <p:spPr>
          <a:xfrm>
            <a:off x="882595" y="1222515"/>
            <a:ext cx="1484445" cy="1754326"/>
          </a:xfrm>
          <a:prstGeom prst="rect">
            <a:avLst/>
          </a:prstGeom>
          <a:noFill/>
        </p:spPr>
        <p:txBody>
          <a:bodyPr wrap="none" rtlCol="0">
            <a:spAutoFit/>
          </a:bodyPr>
          <a:lstStyle/>
          <a:p>
            <a:r>
              <a:rPr lang="en-US" sz="2400" u="sng" dirty="0"/>
              <a:t> </a:t>
            </a:r>
            <a:r>
              <a:rPr lang="en-US" sz="2400" b="1" u="sng" dirty="0" err="1"/>
              <a:t>FrontEnd</a:t>
            </a:r>
            <a:r>
              <a:rPr lang="en-US" sz="2400" u="sng" dirty="0"/>
              <a:t> </a:t>
            </a:r>
            <a:br>
              <a:rPr lang="en-US" sz="2400" u="sng" dirty="0"/>
            </a:br>
            <a:br>
              <a:rPr lang="en-US" sz="2400" u="sng" dirty="0"/>
            </a:br>
            <a:endParaRPr lang="en-US" sz="2400" u="sng" dirty="0"/>
          </a:p>
          <a:p>
            <a:endParaRPr lang="en-US" b="1" dirty="0"/>
          </a:p>
          <a:p>
            <a:endParaRPr lang="en-IN" dirty="0"/>
          </a:p>
        </p:txBody>
      </p:sp>
      <p:sp>
        <p:nvSpPr>
          <p:cNvPr id="3" name="TextBox 2">
            <a:extLst>
              <a:ext uri="{FF2B5EF4-FFF2-40B4-BE49-F238E27FC236}">
                <a16:creationId xmlns:a16="http://schemas.microsoft.com/office/drawing/2014/main" id="{83B175CA-F1E5-326E-8222-C59905B0B1A9}"/>
              </a:ext>
            </a:extLst>
          </p:cNvPr>
          <p:cNvSpPr txBox="1"/>
          <p:nvPr/>
        </p:nvSpPr>
        <p:spPr>
          <a:xfrm>
            <a:off x="586408" y="159027"/>
            <a:ext cx="3479222" cy="646331"/>
          </a:xfrm>
          <a:prstGeom prst="rect">
            <a:avLst/>
          </a:prstGeom>
          <a:noFill/>
        </p:spPr>
        <p:txBody>
          <a:bodyPr wrap="none" rtlCol="0">
            <a:spAutoFit/>
          </a:bodyPr>
          <a:lstStyle/>
          <a:p>
            <a:r>
              <a:rPr lang="en-IN" sz="3600" b="1" dirty="0">
                <a:latin typeface="Arial Black" panose="020B0A04020102020204" pitchFamily="34" charset="0"/>
              </a:rPr>
              <a:t>TECH-STACK</a:t>
            </a:r>
          </a:p>
        </p:txBody>
      </p:sp>
      <p:sp>
        <p:nvSpPr>
          <p:cNvPr id="4" name="Rectangle 1">
            <a:extLst>
              <a:ext uri="{FF2B5EF4-FFF2-40B4-BE49-F238E27FC236}">
                <a16:creationId xmlns:a16="http://schemas.microsoft.com/office/drawing/2014/main" id="{E0A6CA8B-24E8-FC97-5F69-38C2444FDEE0}"/>
              </a:ext>
            </a:extLst>
          </p:cNvPr>
          <p:cNvSpPr>
            <a:spLocks noChangeArrowheads="1"/>
          </p:cNvSpPr>
          <p:nvPr/>
        </p:nvSpPr>
        <p:spPr bwMode="auto">
          <a:xfrm>
            <a:off x="1239520" y="23266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Core:</a:t>
            </a:r>
            <a:r>
              <a:rPr kumimoji="0" lang="en-US" altLang="en-US" sz="1800" b="0" i="0" u="none" strike="noStrike" cap="none" normalizeH="0" baseline="0" dirty="0">
                <a:ln>
                  <a:noFill/>
                </a:ln>
                <a:solidFill>
                  <a:schemeClr val="tx1"/>
                </a:solidFill>
                <a:effectLst/>
                <a:latin typeface="Arial" panose="020B0604020202020204" pitchFamily="34" charset="0"/>
              </a:rPr>
              <a:t> HTML5, CSS3, JavaScript (ES6+)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Design: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Glassmorphism</a:t>
            </a:r>
            <a:r>
              <a:rPr kumimoji="0" lang="en-US" altLang="en-US" sz="1800" b="0" i="0" u="none" strike="noStrike" cap="none" normalizeH="0" baseline="0" dirty="0">
                <a:ln>
                  <a:noFill/>
                </a:ln>
                <a:solidFill>
                  <a:schemeClr val="tx1"/>
                </a:solidFill>
                <a:effectLst/>
                <a:latin typeface="Arial" panose="020B0604020202020204" pitchFamily="34" charset="0"/>
              </a:rPr>
              <a:t> Dark UI (Flexbox &amp; Grid)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Visualization:</a:t>
            </a:r>
            <a:r>
              <a:rPr kumimoji="0" lang="en-US" altLang="en-US" sz="1800" b="0" i="0" u="none" strike="noStrike" cap="none" normalizeH="0" baseline="0" dirty="0">
                <a:ln>
                  <a:noFill/>
                </a:ln>
                <a:solidFill>
                  <a:schemeClr val="tx1"/>
                </a:solidFill>
                <a:effectLst/>
                <a:latin typeface="Arial" panose="020B0604020202020204" pitchFamily="34" charset="0"/>
              </a:rPr>
              <a:t> Chart.js (real-time analytics &amp; object stats)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Networking:</a:t>
            </a:r>
            <a:r>
              <a:rPr kumimoji="0" lang="en-US" altLang="en-US" sz="1800" b="0" i="0" u="none" strike="noStrike" cap="none" normalizeH="0" baseline="0" dirty="0">
                <a:ln>
                  <a:noFill/>
                </a:ln>
                <a:solidFill>
                  <a:schemeClr val="tx1"/>
                </a:solidFill>
                <a:effectLst/>
                <a:latin typeface="Arial" panose="020B0604020202020204" pitchFamily="34" charset="0"/>
              </a:rPr>
              <a:t> Fetch API &amp; </a:t>
            </a:r>
            <a:r>
              <a:rPr kumimoji="0" lang="en-US" altLang="en-US" sz="1800" b="0" i="0" u="none" strike="noStrike" cap="none" normalizeH="0" baseline="0" dirty="0" err="1">
                <a:ln>
                  <a:noFill/>
                </a:ln>
                <a:solidFill>
                  <a:schemeClr val="tx1"/>
                </a:solidFill>
                <a:effectLst/>
                <a:latin typeface="Arial" panose="020B0604020202020204" pitchFamily="34" charset="0"/>
              </a:rPr>
              <a:t>XMLHttpRequest</a:t>
            </a:r>
            <a:r>
              <a:rPr kumimoji="0" lang="en-US" altLang="en-US" sz="1800" b="0" i="0" u="none" strike="noStrike" cap="none" normalizeH="0" baseline="0" dirty="0">
                <a:ln>
                  <a:noFill/>
                </a:ln>
                <a:solidFill>
                  <a:schemeClr val="tx1"/>
                </a:solidFill>
                <a:effectLst/>
                <a:latin typeface="Arial" panose="020B0604020202020204" pitchFamily="34" charset="0"/>
              </a:rPr>
              <a:t> (XHR) </a:t>
            </a:r>
          </a:p>
        </p:txBody>
      </p:sp>
      <p:sp>
        <p:nvSpPr>
          <p:cNvPr id="6" name="TextBox 5">
            <a:extLst>
              <a:ext uri="{FF2B5EF4-FFF2-40B4-BE49-F238E27FC236}">
                <a16:creationId xmlns:a16="http://schemas.microsoft.com/office/drawing/2014/main" id="{EE7419B8-18DD-2B7C-E385-16B42C35ADBF}"/>
              </a:ext>
            </a:extLst>
          </p:cNvPr>
          <p:cNvSpPr txBox="1"/>
          <p:nvPr/>
        </p:nvSpPr>
        <p:spPr>
          <a:xfrm>
            <a:off x="882595" y="3086222"/>
            <a:ext cx="6096000" cy="1200329"/>
          </a:xfrm>
          <a:prstGeom prst="rect">
            <a:avLst/>
          </a:prstGeom>
          <a:noFill/>
        </p:spPr>
        <p:txBody>
          <a:bodyPr wrap="square">
            <a:spAutoFit/>
          </a:bodyPr>
          <a:lstStyle/>
          <a:p>
            <a:r>
              <a:rPr lang="en-US" sz="2400" u="sng" dirty="0"/>
              <a:t> </a:t>
            </a:r>
            <a:r>
              <a:rPr lang="en-US" sz="2400" b="1" u="sng" dirty="0" err="1"/>
              <a:t>BackEnd</a:t>
            </a:r>
            <a:r>
              <a:rPr lang="en-US" sz="2400" u="sng" dirty="0"/>
              <a:t> </a:t>
            </a:r>
            <a:br>
              <a:rPr lang="en-US" sz="2400" u="sng" dirty="0"/>
            </a:br>
            <a:br>
              <a:rPr lang="en-US" sz="2400" u="sng" dirty="0"/>
            </a:br>
            <a:endParaRPr lang="en-IN" sz="2400" u="sng" dirty="0"/>
          </a:p>
        </p:txBody>
      </p:sp>
      <p:sp>
        <p:nvSpPr>
          <p:cNvPr id="7" name="Rectangle 2">
            <a:extLst>
              <a:ext uri="{FF2B5EF4-FFF2-40B4-BE49-F238E27FC236}">
                <a16:creationId xmlns:a16="http://schemas.microsoft.com/office/drawing/2014/main" id="{6B1BDD5A-5455-B00A-DAE5-F99F2A4A2396}"/>
              </a:ext>
            </a:extLst>
          </p:cNvPr>
          <p:cNvSpPr>
            <a:spLocks noChangeArrowheads="1"/>
          </p:cNvSpPr>
          <p:nvPr/>
        </p:nvSpPr>
        <p:spPr bwMode="auto">
          <a:xfrm>
            <a:off x="1311977" y="3496191"/>
            <a:ext cx="1040851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Server: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Uvicorn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Model:</a:t>
            </a:r>
            <a:r>
              <a:rPr kumimoji="0" lang="en-US" altLang="en-US" sz="1800" b="0" i="0" u="none" strike="noStrike" cap="none" normalizeH="0" baseline="0" dirty="0">
                <a:ln>
                  <a:noFill/>
                </a:ln>
                <a:solidFill>
                  <a:schemeClr val="tx1"/>
                </a:solidFill>
                <a:effectLst/>
                <a:latin typeface="Arial" panose="020B0604020202020204" pitchFamily="34" charset="0"/>
              </a:rPr>
              <a:t> YOLO (Object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Processing:</a:t>
            </a:r>
            <a:r>
              <a:rPr kumimoji="0" lang="en-US" altLang="en-US" sz="1800" b="0" i="0" u="none" strike="noStrike" cap="none" normalizeH="0" baseline="0" dirty="0">
                <a:ln>
                  <a:noFill/>
                </a:ln>
                <a:solidFill>
                  <a:schemeClr val="tx1"/>
                </a:solidFill>
                <a:effectLst/>
                <a:latin typeface="Arial" panose="020B0604020202020204" pitchFamily="34" charset="0"/>
              </a:rPr>
              <a:t> OpenCV (frame extraction &amp; image processing) </a:t>
            </a:r>
          </a:p>
        </p:txBody>
      </p:sp>
      <p:sp>
        <p:nvSpPr>
          <p:cNvPr id="9" name="TextBox 8">
            <a:extLst>
              <a:ext uri="{FF2B5EF4-FFF2-40B4-BE49-F238E27FC236}">
                <a16:creationId xmlns:a16="http://schemas.microsoft.com/office/drawing/2014/main" id="{82F4BE9D-6DCD-766E-9468-A05D93064100}"/>
              </a:ext>
            </a:extLst>
          </p:cNvPr>
          <p:cNvSpPr txBox="1"/>
          <p:nvPr/>
        </p:nvSpPr>
        <p:spPr>
          <a:xfrm>
            <a:off x="882595" y="4712155"/>
            <a:ext cx="6096000" cy="1015663"/>
          </a:xfrm>
          <a:prstGeom prst="rect">
            <a:avLst/>
          </a:prstGeom>
          <a:noFill/>
        </p:spPr>
        <p:txBody>
          <a:bodyPr wrap="square">
            <a:spAutoFit/>
          </a:bodyPr>
          <a:lstStyle/>
          <a:p>
            <a:r>
              <a:rPr lang="en-US" sz="2400" dirty="0"/>
              <a:t> </a:t>
            </a:r>
            <a:r>
              <a:rPr lang="en-US" sz="2400" b="1" u="sng" dirty="0"/>
              <a:t>Data Storage</a:t>
            </a:r>
            <a:r>
              <a:rPr lang="en-US" sz="2400" u="sng" dirty="0"/>
              <a:t> </a:t>
            </a:r>
            <a:br>
              <a:rPr lang="en-US" dirty="0"/>
            </a:br>
            <a:br>
              <a:rPr lang="en-US" dirty="0"/>
            </a:br>
            <a:endParaRPr lang="en-IN" dirty="0"/>
          </a:p>
        </p:txBody>
      </p:sp>
      <p:sp>
        <p:nvSpPr>
          <p:cNvPr id="10" name="Rectangle 3">
            <a:extLst>
              <a:ext uri="{FF2B5EF4-FFF2-40B4-BE49-F238E27FC236}">
                <a16:creationId xmlns:a16="http://schemas.microsoft.com/office/drawing/2014/main" id="{42C616F0-4225-1F6C-1710-AE16160C857B}"/>
              </a:ext>
            </a:extLst>
          </p:cNvPr>
          <p:cNvSpPr>
            <a:spLocks noChangeArrowheads="1"/>
          </p:cNvSpPr>
          <p:nvPr/>
        </p:nvSpPr>
        <p:spPr bwMode="auto">
          <a:xfrm>
            <a:off x="1311977" y="58013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Storage:</a:t>
            </a:r>
            <a:r>
              <a:rPr kumimoji="0" lang="en-US" altLang="en-US" sz="1800" b="0" i="0" u="none" strike="noStrike" cap="none" normalizeH="0" baseline="0">
                <a:ln>
                  <a:noFill/>
                </a:ln>
                <a:solidFill>
                  <a:schemeClr val="tx1"/>
                </a:solidFill>
                <a:effectLst/>
                <a:latin typeface="Arial" panose="020B0604020202020204" pitchFamily="34" charset="0"/>
              </a:rPr>
              <a:t> Local Disk (</a:t>
            </a:r>
            <a:r>
              <a:rPr kumimoji="0" lang="en-US" altLang="en-US" sz="1000" b="0" i="0" u="none" strike="noStrike" cap="none" normalizeH="0" baseline="0">
                <a:ln>
                  <a:noFill/>
                </a:ln>
                <a:solidFill>
                  <a:schemeClr val="tx1"/>
                </a:solidFill>
                <a:effectLst/>
                <a:latin typeface="Arial Unicode MS"/>
              </a:rPr>
              <a:t>/data/crops/</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Image Handling:</a:t>
            </a:r>
            <a:r>
              <a:rPr kumimoji="0" lang="en-US" altLang="en-US" sz="1800" b="0" i="0" u="none" strike="noStrike" cap="none" normalizeH="0" baseline="0">
                <a:ln>
                  <a:noFill/>
                </a:ln>
                <a:solidFill>
                  <a:schemeClr val="tx1"/>
                </a:solidFill>
                <a:effectLst/>
                <a:latin typeface="Arial" panose="020B0604020202020204" pitchFamily="34" charset="0"/>
              </a:rPr>
              <a:t> Automatic cropped object saving (JPEG)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Config Management:</a:t>
            </a:r>
            <a:r>
              <a:rPr kumimoji="0" lang="en-US" altLang="en-US" sz="1800" b="0" i="0" u="none" strike="noStrike" cap="none" normalizeH="0" baseline="0">
                <a:ln>
                  <a:noFill/>
                </a:ln>
                <a:solidFill>
                  <a:schemeClr val="tx1"/>
                </a:solidFill>
                <a:effectLst/>
                <a:latin typeface="Arial" panose="020B0604020202020204" pitchFamily="34" charset="0"/>
              </a:rPr>
              <a:t> python-dotenv </a:t>
            </a:r>
          </a:p>
        </p:txBody>
      </p:sp>
    </p:spTree>
    <p:extLst>
      <p:ext uri="{BB962C8B-B14F-4D97-AF65-F5344CB8AC3E}">
        <p14:creationId xmlns:p14="http://schemas.microsoft.com/office/powerpoint/2010/main" val="2591617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9C34F-8848-AA5D-720C-FC2A59C59311}"/>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53F5EF0A-9ED8-0FB2-6053-2EF43B60E1D6}"/>
              </a:ext>
            </a:extLst>
          </p:cNvPr>
          <p:cNvSpPr>
            <a:spLocks noGrp="1"/>
          </p:cNvSpPr>
          <p:nvPr>
            <p:ph type="title"/>
          </p:nvPr>
        </p:nvSpPr>
        <p:spPr>
          <a:xfrm>
            <a:off x="603529" y="0"/>
            <a:ext cx="5985774" cy="759565"/>
          </a:xfrm>
        </p:spPr>
        <p:txBody>
          <a:bodyPr anchor="b">
            <a:normAutofit/>
          </a:bodyPr>
          <a:lstStyle/>
          <a:p>
            <a:r>
              <a:rPr lang="en-US" sz="3600" dirty="0">
                <a:latin typeface="Arial Black" panose="020B0A04020102020204" pitchFamily="34" charset="0"/>
              </a:rPr>
              <a:t>DATAFLOW DIAGRAM</a:t>
            </a:r>
          </a:p>
        </p:txBody>
      </p:sp>
      <p:pic>
        <p:nvPicPr>
          <p:cNvPr id="3" name="Picture 2">
            <a:extLst>
              <a:ext uri="{FF2B5EF4-FFF2-40B4-BE49-F238E27FC236}">
                <a16:creationId xmlns:a16="http://schemas.microsoft.com/office/drawing/2014/main" id="{AC3F0F3C-783A-FC60-34B1-BE41D2E8C430}"/>
              </a:ext>
            </a:extLst>
          </p:cNvPr>
          <p:cNvPicPr>
            <a:picLocks noChangeAspect="1"/>
          </p:cNvPicPr>
          <p:nvPr/>
        </p:nvPicPr>
        <p:blipFill>
          <a:blip r:embed="rId2"/>
          <a:stretch>
            <a:fillRect/>
          </a:stretch>
        </p:blipFill>
        <p:spPr>
          <a:xfrm>
            <a:off x="5246280" y="759565"/>
            <a:ext cx="2309013" cy="6006841"/>
          </a:xfrm>
          <a:prstGeom prst="rect">
            <a:avLst/>
          </a:prstGeom>
        </p:spPr>
      </p:pic>
    </p:spTree>
    <p:extLst>
      <p:ext uri="{BB962C8B-B14F-4D97-AF65-F5344CB8AC3E}">
        <p14:creationId xmlns:p14="http://schemas.microsoft.com/office/powerpoint/2010/main" val="3765789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EAF20-D69D-790B-6BF7-410D1283EFF2}"/>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249766B-B5AF-EDE6-EE73-3A288FF9D7F4}"/>
              </a:ext>
            </a:extLst>
          </p:cNvPr>
          <p:cNvSpPr>
            <a:spLocks noGrp="1"/>
          </p:cNvSpPr>
          <p:nvPr>
            <p:ph type="title"/>
          </p:nvPr>
        </p:nvSpPr>
        <p:spPr>
          <a:xfrm>
            <a:off x="603529" y="0"/>
            <a:ext cx="5985774" cy="759565"/>
          </a:xfrm>
        </p:spPr>
        <p:txBody>
          <a:bodyPr anchor="b">
            <a:normAutofit/>
          </a:bodyPr>
          <a:lstStyle/>
          <a:p>
            <a:r>
              <a:rPr lang="en-US" sz="3600" dirty="0">
                <a:latin typeface="Arial Black" panose="020B0A04020102020204" pitchFamily="34" charset="0"/>
              </a:rPr>
              <a:t>SYSTEM DIAGRAM</a:t>
            </a:r>
          </a:p>
        </p:txBody>
      </p:sp>
      <p:pic>
        <p:nvPicPr>
          <p:cNvPr id="4" name="Picture 3">
            <a:extLst>
              <a:ext uri="{FF2B5EF4-FFF2-40B4-BE49-F238E27FC236}">
                <a16:creationId xmlns:a16="http://schemas.microsoft.com/office/drawing/2014/main" id="{3C3BD51D-6F1F-644F-0EDB-8F3B984E2E2A}"/>
              </a:ext>
            </a:extLst>
          </p:cNvPr>
          <p:cNvPicPr>
            <a:picLocks noChangeAspect="1"/>
          </p:cNvPicPr>
          <p:nvPr/>
        </p:nvPicPr>
        <p:blipFill>
          <a:blip r:embed="rId2"/>
          <a:stretch>
            <a:fillRect/>
          </a:stretch>
        </p:blipFill>
        <p:spPr>
          <a:xfrm>
            <a:off x="1928872" y="621447"/>
            <a:ext cx="9003288" cy="6071244"/>
          </a:xfrm>
          <a:prstGeom prst="rect">
            <a:avLst/>
          </a:prstGeom>
        </p:spPr>
      </p:pic>
    </p:spTree>
    <p:extLst>
      <p:ext uri="{BB962C8B-B14F-4D97-AF65-F5344CB8AC3E}">
        <p14:creationId xmlns:p14="http://schemas.microsoft.com/office/powerpoint/2010/main" val="331009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60473F-7BEF-61C4-E813-E557DA56C34E}"/>
              </a:ext>
            </a:extLst>
          </p:cNvPr>
          <p:cNvSpPr txBox="1"/>
          <p:nvPr/>
        </p:nvSpPr>
        <p:spPr>
          <a:xfrm>
            <a:off x="1013791" y="1421296"/>
            <a:ext cx="8478741" cy="3373359"/>
          </a:xfrm>
          <a:prstGeom prst="rect">
            <a:avLst/>
          </a:prstGeom>
          <a:noFill/>
        </p:spPr>
        <p:txBody>
          <a:bodyPr wrap="square" rtlCol="0">
            <a:spAutoFit/>
          </a:bodyPr>
          <a:lstStyle/>
          <a:p>
            <a:pPr>
              <a:lnSpc>
                <a:spcPct val="150000"/>
              </a:lnSpc>
            </a:pPr>
            <a:r>
              <a:rPr lang="en-US"/>
              <a:t>	In </a:t>
            </a:r>
            <a:r>
              <a:rPr lang="en-US" dirty="0"/>
              <a:t>conclusion, the proposed CCTV Footage Analysis System provides an efficient and automated solution for handling large volumes of surveillance data. By leveraging Computer Vision and Deep Learning, it reduces the need for manual monitoring and enables quick interpretation of video content through structured, timestamp-based descriptions. This improves accuracy, saves time, and enhances decision-making in critical situations. Overall, the system contributes to smarter and more effective surveillance, making it highly valuable for security, traffic management, and crime investigation applications</a:t>
            </a:r>
            <a:endParaRPr lang="en-IN" dirty="0"/>
          </a:p>
        </p:txBody>
      </p:sp>
      <p:sp>
        <p:nvSpPr>
          <p:cNvPr id="3" name="TextBox 2">
            <a:extLst>
              <a:ext uri="{FF2B5EF4-FFF2-40B4-BE49-F238E27FC236}">
                <a16:creationId xmlns:a16="http://schemas.microsoft.com/office/drawing/2014/main" id="{084F9756-F816-CB5D-20BA-30591EAE6352}"/>
              </a:ext>
            </a:extLst>
          </p:cNvPr>
          <p:cNvSpPr txBox="1"/>
          <p:nvPr/>
        </p:nvSpPr>
        <p:spPr>
          <a:xfrm>
            <a:off x="636104" y="139148"/>
            <a:ext cx="3635226" cy="646331"/>
          </a:xfrm>
          <a:prstGeom prst="rect">
            <a:avLst/>
          </a:prstGeom>
          <a:noFill/>
        </p:spPr>
        <p:txBody>
          <a:bodyPr wrap="none" rtlCol="0">
            <a:spAutoFit/>
          </a:bodyPr>
          <a:lstStyle/>
          <a:p>
            <a:r>
              <a:rPr lang="en-IN" sz="3600" b="1" dirty="0">
                <a:latin typeface="Arial Black" panose="020B0A04020102020204" pitchFamily="34" charset="0"/>
              </a:rPr>
              <a:t>CONCLUSION</a:t>
            </a:r>
          </a:p>
        </p:txBody>
      </p:sp>
    </p:spTree>
    <p:extLst>
      <p:ext uri="{BB962C8B-B14F-4D97-AF65-F5344CB8AC3E}">
        <p14:creationId xmlns:p14="http://schemas.microsoft.com/office/powerpoint/2010/main" val="3568816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1165</TotalTime>
  <Words>1265</Words>
  <Application>Microsoft Office PowerPoint</Application>
  <PresentationFormat>Widescreen</PresentationFormat>
  <Paragraphs>144</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Aparajita</vt:lpstr>
      <vt:lpstr>Arial</vt:lpstr>
      <vt:lpstr>Arial Black</vt:lpstr>
      <vt:lpstr>Arial Unicode MS</vt:lpstr>
      <vt:lpstr>Arimo</vt:lpstr>
      <vt:lpstr>Calibri</vt:lpstr>
      <vt:lpstr>Calibri Light</vt:lpstr>
      <vt:lpstr>Times New Roman</vt:lpstr>
      <vt:lpstr>Wingdings</vt:lpstr>
      <vt:lpstr>Office Theme</vt:lpstr>
      <vt:lpstr>PowerPoint Presentation</vt:lpstr>
      <vt:lpstr>GROUP MEMBERS</vt:lpstr>
      <vt:lpstr>PROBLEM STATEMENT</vt:lpstr>
      <vt:lpstr>OBJECTIVES</vt:lpstr>
      <vt:lpstr>PowerPoint Presentation</vt:lpstr>
      <vt:lpstr>PowerPoint Presentation</vt:lpstr>
      <vt:lpstr>PowerPoint Presentation</vt:lpstr>
      <vt:lpstr>PowerPoint Presentation</vt:lpstr>
      <vt:lpstr>DATAFLOW DIAGRAM</vt:lpstr>
      <vt:lpstr>SYSTEM DIAGRAM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Sham Kedar</dc:creator>
  <cp:lastModifiedBy>Tanish Jadhav</cp:lastModifiedBy>
  <cp:revision>16</cp:revision>
  <dcterms:created xsi:type="dcterms:W3CDTF">2025-03-29T06:29:22Z</dcterms:created>
  <dcterms:modified xsi:type="dcterms:W3CDTF">2026-04-24T12:41:02Z</dcterms:modified>
</cp:coreProperties>
</file>