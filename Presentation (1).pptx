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0" r:id="rId6"/>
    <p:sldId id="258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987" autoAdjust="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DC3E-E948-11F6-5D35-C0CF58ACD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7E137-D159-1A54-914F-262F2BE7C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C633C-85DD-BD11-CFB4-20084585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EB8C-18C9-027E-274E-35144C5F0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A4877-9770-B62A-8126-504E358B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8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36A7-73F4-BAB8-1990-E3809065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7CB1-5133-C042-85AC-D7E241F87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C9E56-8F7F-9C33-4B24-E9F7537E0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16EBD-F9C0-B1DF-C0CF-2DC4B22B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7AC60-16BD-EB53-16D4-9A41F058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69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3BAA-173F-93B8-1563-B4059A81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8DF31-617F-0E30-5C8E-59D9302E4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965AE-C1AA-DE54-8830-02BFC49C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3821E-63FB-BE33-03EC-9DEAE809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FF673-7C31-CEB6-468D-B8A20DD4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6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2FF1-0DC8-1BAC-6739-ED2EF10F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ECCB9-D9D3-C3DE-E364-7B5D60DA5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FFA10-02E7-73EB-CFB3-58D0D2148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C6A5E-1D60-4666-3B5C-58A2CDC9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CF8EA-8356-0ECF-CA4B-E89C0F21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E0129-BB9C-6045-4877-5153BFB8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77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4CDA-2215-BFD9-9B9E-C932AC17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1FBDD-DAA8-6142-50F5-62D7CEEBD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33089-9FDF-22B0-C9AD-DE577767E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D9B5C8-E37F-13B7-F16B-799C29459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F83CB-AEE6-D416-EE44-493A2B2E2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BB024-6746-5AA3-CC1D-8FD52661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D02109-EEFF-8726-F890-E3E64845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5B603-57EF-B40D-C4D3-FF97FD78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0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128F-ED2D-D913-2D1D-0A235A01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AFB4D-C872-95AA-A01B-EF94B920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32822-7E5E-CB7B-3C4F-8D537F4F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CBAC8-BFE2-C1ED-D97D-40126E0C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0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7B69A-A9D3-0085-E257-F93E7F77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29C5A-87B1-898A-CEE1-AD4C5A2D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56B1A-2486-5975-ED86-BE300477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79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F4C9-D5AB-77B7-03E8-971DDDA9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93B62-5CFA-F683-F31B-E86A3CCD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97D02-9D55-9C34-06B3-8F06D74BB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991F3-9AC4-902E-62B5-ED32BCC2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94E44-80F9-E6F7-4A02-99CE5BF3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6D57-12A0-5715-7F7F-CE02EB4B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05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5FD0-5131-586E-A6D6-A1BE1FED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C93B2-FB5B-3609-0B8D-5CB89312E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84668-A2ED-AEA3-2257-340DEC358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633C0-4BBF-EF7D-DC70-8E8AB348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DDD23-9DF1-2934-3805-2C656A84C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0C7C8-E4A5-E5DB-CB56-F69C4D60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20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2D7D-4703-B650-2B71-8BC47017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E42B3-DF43-7ECB-EDDE-A1B18CCA8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6EBAD-E61A-8777-3386-4D9D0812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6CF5-1FDE-D1BC-C25E-B632C45A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2E27E-813E-C104-CA37-C64D405D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20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D2BF7-0B55-5CDC-3D80-AB9697882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760F1-6752-5074-28BB-1BF17747E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56B4-9E61-3659-A9A4-E8F0CCE2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E8FD-5CC1-3FCC-F5D1-517F5063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A6CD0-9512-76CF-98EF-577A156C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04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DE938-F5CF-FD41-01D3-04831771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FFC1A-9D20-10A5-8248-21DE51AE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C49F-8260-93E2-9540-C7EE0BBBD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C4137-D3A0-4597-A29B-FC8244A74A50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30FD-5024-7F84-FB6E-B7E32BD82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74D89-AC4B-19B2-B478-BA3D8DE60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CF64D-B9A4-4D72-9B1A-717CC39DF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6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9868085" TargetMode="External"/><Relationship Id="rId2" Type="http://schemas.openxmlformats.org/officeDocument/2006/relationships/hyperlink" Target="https://www.sciencedirect.com/science/article/pii/S2667305323001369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eeexplore.ieee.org/abstract/document/8899441" TargetMode="External"/><Relationship Id="rId4" Type="http://schemas.openxmlformats.org/officeDocument/2006/relationships/hyperlink" Target="https://www.mdpi.com/2411-5134/3/4/69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667305323001369" TargetMode="External"/><Relationship Id="rId2" Type="http://schemas.openxmlformats.org/officeDocument/2006/relationships/hyperlink" Target="https://www.researchgate.net/profile/Naeem-Ahmed-38/publication/394414937_A_Lightweight_Real-Time_CCTV_Surveillance_Framework_for_the_Education_Sector_Using_Machine_Learning/links/689748928a487c1ea6d97a66/A-Lightweight-Real-Time-CCTV-Surveillance-Framework-for-the-Education-Sector-Using-Machine-Learning.pdf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383991-6683-000C-01DC-9FC2FCFBC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52" y="117668"/>
            <a:ext cx="2630562" cy="1270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8213F-CD22-2B22-4FB0-BD262F153E84}"/>
              </a:ext>
            </a:extLst>
          </p:cNvPr>
          <p:cNvSpPr txBox="1"/>
          <p:nvPr/>
        </p:nvSpPr>
        <p:spPr>
          <a:xfrm>
            <a:off x="3048698" y="196952"/>
            <a:ext cx="9073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Kolhapur Institute of Technology’s College of Engineering       (Empowered Autonomous)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97BB2EF-CE1E-39C6-DE69-EEFB08509A09}"/>
              </a:ext>
            </a:extLst>
          </p:cNvPr>
          <p:cNvSpPr txBox="1">
            <a:spLocks/>
          </p:cNvSpPr>
          <p:nvPr/>
        </p:nvSpPr>
        <p:spPr>
          <a:xfrm>
            <a:off x="632175" y="4457667"/>
            <a:ext cx="10748682" cy="2019716"/>
          </a:xfrm>
          <a:prstGeom prst="rect">
            <a:avLst/>
          </a:prstGeom>
        </p:spPr>
        <p:txBody>
          <a:bodyPr numCol="1" anchor="t">
            <a:normAutofit fontScale="85000" lnSpcReduction="2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Presented By:						Under Guidance of: 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Pranav							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Mrs. </a:t>
            </a:r>
            <a:r>
              <a:rPr lang="en-US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K.M.Tamboli</a:t>
            </a:r>
            <a:endParaRPr lang="en-US" sz="1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Sham 							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Sanket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Tanish</a:t>
            </a:r>
          </a:p>
          <a:p>
            <a:pPr marL="914400" lvl="2" indent="0">
              <a:buNone/>
            </a:pPr>
            <a:endParaRPr lang="en-US" sz="1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Aharoni" pitchFamily="2" charset="-79"/>
              </a:rPr>
              <a:t>		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Aharoni" pitchFamily="2" charset="-79"/>
            </a:endParaRPr>
          </a:p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7836C5-0F8F-DCA8-FA18-1CE05C491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51887"/>
              </p:ext>
            </p:extLst>
          </p:nvPr>
        </p:nvGraphicFramePr>
        <p:xfrm>
          <a:off x="1972969" y="2383569"/>
          <a:ext cx="8128000" cy="72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198457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11806050"/>
                    </a:ext>
                  </a:extLst>
                </a:gridCol>
              </a:tblGrid>
              <a:tr h="72310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 Project Phase-II Presentation on :-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CCTV Footage Analysis Through Computer Vision and Deep Learning.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81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16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5477B13-11E6-D974-B2DD-38B90357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2" y="88490"/>
            <a:ext cx="5985774" cy="759565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GROUP MEMBERS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60477B-AE83-4155-E89E-BE79D5FE426B}"/>
              </a:ext>
            </a:extLst>
          </p:cNvPr>
          <p:cNvSpPr txBox="1">
            <a:spLocks/>
          </p:cNvSpPr>
          <p:nvPr/>
        </p:nvSpPr>
        <p:spPr>
          <a:xfrm>
            <a:off x="890247" y="1915383"/>
            <a:ext cx="5985774" cy="3034880"/>
          </a:xfrm>
          <a:prstGeom prst="rect">
            <a:avLst/>
          </a:prstGeom>
        </p:spPr>
        <p:txBody>
          <a:bodyPr vert="horz" lIns="109728" tIns="109728" rIns="109728" bIns="9144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SHAM	-	23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SANKET	-	37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TANISH	-	18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PRANAV	-	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C5D46A-C910-E9EB-7E2F-C334B7202CAF}"/>
              </a:ext>
            </a:extLst>
          </p:cNvPr>
          <p:cNvSpPr txBox="1"/>
          <p:nvPr/>
        </p:nvSpPr>
        <p:spPr>
          <a:xfrm>
            <a:off x="1465123" y="1500468"/>
            <a:ext cx="375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 		Roll No.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2356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13708-7B2F-3130-E112-2D404B1C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F2880A-D1A3-8F5B-DA9E-BA55D664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2" y="88490"/>
            <a:ext cx="5985774" cy="759565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52334-2CAB-D0D7-BF6B-BCEDFEA5350E}"/>
              </a:ext>
            </a:extLst>
          </p:cNvPr>
          <p:cNvSpPr txBox="1"/>
          <p:nvPr/>
        </p:nvSpPr>
        <p:spPr>
          <a:xfrm>
            <a:off x="956345" y="1510018"/>
            <a:ext cx="10637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With the rapid growth of surveillance systems, large volumes of CCTV footage are generated every day, making manual monitoring and analysis time-consuming and inefficient. To address this challenge, </a:t>
            </a:r>
            <a:r>
              <a:rPr lang="en-US" b="1" dirty="0"/>
              <a:t>Computer Vision and Deep Learning</a:t>
            </a:r>
            <a:r>
              <a:rPr lang="en-US" dirty="0"/>
              <a:t> techniques can be used to automatically analyze video data and extract meaningful information.</a:t>
            </a:r>
          </a:p>
          <a:p>
            <a:r>
              <a:rPr lang="en-US" dirty="0"/>
              <a:t>	This project focuses on developing a </a:t>
            </a:r>
            <a:r>
              <a:rPr lang="en-US" b="1" dirty="0"/>
              <a:t>CCTV Footage Analysis System</a:t>
            </a:r>
            <a:r>
              <a:rPr lang="en-US" dirty="0"/>
              <a:t> that detects objects such as people, vehicles, and other entities in surveillance videos and generates </a:t>
            </a:r>
            <a:r>
              <a:rPr lang="en-US" b="1" dirty="0"/>
              <a:t>timestamped</a:t>
            </a:r>
            <a:r>
              <a:rPr lang="en-US" dirty="0"/>
              <a:t> based on object attributes like </a:t>
            </a:r>
            <a:r>
              <a:rPr lang="en-US" b="1" dirty="0"/>
              <a:t>type, color, and size</a:t>
            </a:r>
            <a:r>
              <a:rPr lang="en-US" dirty="0"/>
              <a:t>. By converting visual information into structured, time-based descriptions, the system helps users quickly understand events occurring in the video </a:t>
            </a:r>
            <a:r>
              <a:rPr lang="en-US" dirty="0">
                <a:highlight>
                  <a:srgbClr val="FFFF00"/>
                </a:highlight>
              </a:rPr>
              <a:t>without watching the entire footage</a:t>
            </a:r>
            <a:r>
              <a:rPr lang="en-US" dirty="0"/>
              <a:t>.</a:t>
            </a:r>
          </a:p>
          <a:p>
            <a:r>
              <a:rPr lang="en-US" dirty="0"/>
              <a:t>	The proposed system is useful in applications such as </a:t>
            </a:r>
            <a:r>
              <a:rPr lang="en-US" b="1" dirty="0"/>
              <a:t>security monitoring, crime investigation, traffic analysis, and smart surveillance</a:t>
            </a:r>
            <a:r>
              <a:rPr lang="en-US" dirty="0"/>
              <a:t>, where fast and accurate interpretation of video data is essential.</a:t>
            </a:r>
          </a:p>
        </p:txBody>
      </p:sp>
    </p:spTree>
    <p:extLst>
      <p:ext uri="{BB962C8B-B14F-4D97-AF65-F5344CB8AC3E}">
        <p14:creationId xmlns:p14="http://schemas.microsoft.com/office/powerpoint/2010/main" val="1417899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C7096-2D15-9355-3105-5883FE698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1D0B29A-6309-A7A2-587E-D214FC76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2" y="88490"/>
            <a:ext cx="5985774" cy="759565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5D1AD3-3DAE-C977-D9F4-99C3979E7413}"/>
              </a:ext>
            </a:extLst>
          </p:cNvPr>
          <p:cNvSpPr txBox="1"/>
          <p:nvPr/>
        </p:nvSpPr>
        <p:spPr>
          <a:xfrm>
            <a:off x="956345" y="1482214"/>
            <a:ext cx="10637240" cy="32061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ts val="3316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Automate CCTV Video Analysis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Enable Attribute-Based Video Search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Convert Video Frames into Vector Representations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Create Timestamp-Based Indexing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Reduce Time Required for Video Investigation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Develop a User-Friendly Search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7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5FE83-36E5-3B0E-30C7-55C02969EC76}"/>
              </a:ext>
            </a:extLst>
          </p:cNvPr>
          <p:cNvSpPr txBox="1"/>
          <p:nvPr/>
        </p:nvSpPr>
        <p:spPr>
          <a:xfrm>
            <a:off x="711911" y="5704"/>
            <a:ext cx="561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 Black" pitchFamily="34" charset="0"/>
              </a:rPr>
              <a:t>LITERATURE REVIEW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76EDAE-392F-5161-9E62-822D455CC73B}"/>
              </a:ext>
            </a:extLst>
          </p:cNvPr>
          <p:cNvCxnSpPr/>
          <p:nvPr/>
        </p:nvCxnSpPr>
        <p:spPr>
          <a:xfrm rot="5400000" flipH="1" flipV="1">
            <a:off x="862642" y="6383548"/>
            <a:ext cx="25879" cy="25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90BCC8-39A4-0ACF-B72E-2B4BE79158F0}"/>
              </a:ext>
            </a:extLst>
          </p:cNvPr>
          <p:cNvCxnSpPr>
            <a:cxnSpLocks/>
          </p:cNvCxnSpPr>
          <p:nvPr/>
        </p:nvCxnSpPr>
        <p:spPr>
          <a:xfrm flipV="1">
            <a:off x="396908" y="6396487"/>
            <a:ext cx="5413957" cy="129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F3E6DB-5989-F445-6CB5-48217AFAE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262475"/>
              </p:ext>
            </p:extLst>
          </p:nvPr>
        </p:nvGraphicFramePr>
        <p:xfrm>
          <a:off x="127552" y="722729"/>
          <a:ext cx="11936895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840">
                  <a:extLst>
                    <a:ext uri="{9D8B030D-6E8A-4147-A177-3AD203B41FA5}">
                      <a16:colId xmlns:a16="http://schemas.microsoft.com/office/drawing/2014/main" val="3571296616"/>
                    </a:ext>
                  </a:extLst>
                </a:gridCol>
                <a:gridCol w="1298973">
                  <a:extLst>
                    <a:ext uri="{9D8B030D-6E8A-4147-A177-3AD203B41FA5}">
                      <a16:colId xmlns:a16="http://schemas.microsoft.com/office/drawing/2014/main" val="1185246498"/>
                    </a:ext>
                  </a:extLst>
                </a:gridCol>
                <a:gridCol w="1641538">
                  <a:extLst>
                    <a:ext uri="{9D8B030D-6E8A-4147-A177-3AD203B41FA5}">
                      <a16:colId xmlns:a16="http://schemas.microsoft.com/office/drawing/2014/main" val="420518565"/>
                    </a:ext>
                  </a:extLst>
                </a:gridCol>
                <a:gridCol w="1516361">
                  <a:extLst>
                    <a:ext uri="{9D8B030D-6E8A-4147-A177-3AD203B41FA5}">
                      <a16:colId xmlns:a16="http://schemas.microsoft.com/office/drawing/2014/main" val="123923596"/>
                    </a:ext>
                  </a:extLst>
                </a:gridCol>
                <a:gridCol w="1440336">
                  <a:extLst>
                    <a:ext uri="{9D8B030D-6E8A-4147-A177-3AD203B41FA5}">
                      <a16:colId xmlns:a16="http://schemas.microsoft.com/office/drawing/2014/main" val="1132992911"/>
                    </a:ext>
                  </a:extLst>
                </a:gridCol>
                <a:gridCol w="2135407">
                  <a:extLst>
                    <a:ext uri="{9D8B030D-6E8A-4147-A177-3AD203B41FA5}">
                      <a16:colId xmlns:a16="http://schemas.microsoft.com/office/drawing/2014/main" val="44947569"/>
                    </a:ext>
                  </a:extLst>
                </a:gridCol>
                <a:gridCol w="1568214">
                  <a:extLst>
                    <a:ext uri="{9D8B030D-6E8A-4147-A177-3AD203B41FA5}">
                      <a16:colId xmlns:a16="http://schemas.microsoft.com/office/drawing/2014/main" val="3673396667"/>
                    </a:ext>
                  </a:extLst>
                </a:gridCol>
                <a:gridCol w="1536226">
                  <a:extLst>
                    <a:ext uri="{9D8B030D-6E8A-4147-A177-3AD203B41FA5}">
                      <a16:colId xmlns:a16="http://schemas.microsoft.com/office/drawing/2014/main" val="855266782"/>
                    </a:ext>
                  </a:extLst>
                </a:gridCol>
              </a:tblGrid>
              <a:tr h="608514">
                <a:tc>
                  <a:txBody>
                    <a:bodyPr/>
                    <a:lstStyle/>
                    <a:p>
                      <a:r>
                        <a:rPr lang="en-IN" dirty="0"/>
                        <a:t>Serial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Methododlogy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QOS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347189"/>
                  </a:ext>
                </a:extLst>
              </a:tr>
              <a:tr h="1130098">
                <a:tc>
                  <a:txBody>
                    <a:bodyPr/>
                    <a:lstStyle/>
                    <a:p>
                      <a:r>
                        <a:rPr lang="en-IN" sz="12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March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hlinkClick r:id="rId2"/>
                        </a:rPr>
                        <a:t>Design of a real‑time crime monitoring system using deep learning techniques</a:t>
                      </a:r>
                      <a:endParaRPr lang="en-IN" sz="1200" b="1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Md. Muktadir </a:t>
                      </a:r>
                      <a:r>
                        <a:rPr lang="en-IN" sz="1200" dirty="0" err="1"/>
                        <a:t>Mukto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Mahamudul</a:t>
                      </a:r>
                      <a:r>
                        <a:rPr lang="en-IN" sz="1200" dirty="0"/>
                        <a:t> Hasan, Md. </a:t>
                      </a:r>
                      <a:r>
                        <a:rPr lang="en-IN" sz="1200" dirty="0" err="1"/>
                        <a:t>Maiyaz</a:t>
                      </a:r>
                      <a:r>
                        <a:rPr lang="en-IN" sz="1200" dirty="0"/>
                        <a:t> Al Mahmud,</a:t>
                      </a:r>
                    </a:p>
                    <a:p>
                      <a:r>
                        <a:rPr lang="en-IN" sz="1200" dirty="0" err="1"/>
                        <a:t>kramul</a:t>
                      </a:r>
                      <a:r>
                        <a:rPr lang="en-IN" sz="1200" dirty="0"/>
                        <a:t> Haque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Intelligent Systems with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Weapon detection using YOLOv5Violence detection using MobileNetv2Face recognition using LBPH (Local Binary Pattern Histogram)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Weapon detection: &gt; 80% accuracy</a:t>
                      </a:r>
                    </a:p>
                    <a:p>
                      <a:r>
                        <a:rPr lang="en-US" sz="1200" dirty="0"/>
                        <a:t>Violence detection: ~95% accuracy</a:t>
                      </a:r>
                    </a:p>
                    <a:p>
                      <a:r>
                        <a:rPr lang="en-US" sz="1200" dirty="0"/>
                        <a:t>Face recognition: ~97% accuracy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Dataset dependencies,</a:t>
                      </a:r>
                    </a:p>
                    <a:p>
                      <a:r>
                        <a:rPr lang="en-IN" sz="1200" dirty="0"/>
                        <a:t>Computing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69332"/>
                  </a:ext>
                </a:extLst>
              </a:tr>
              <a:tr h="956237">
                <a:tc>
                  <a:txBody>
                    <a:bodyPr/>
                    <a:lstStyle/>
                    <a:p>
                      <a:r>
                        <a:rPr lang="en-IN" sz="12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hlinkClick r:id="rId3"/>
                        </a:rPr>
                        <a:t>Building Occupancy Detection and Localization Using CCTV Camera and Deep Learning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Shushan Hu</a:t>
                      </a:r>
                    </a:p>
                    <a:p>
                      <a:r>
                        <a:rPr lang="en-IN" sz="1200" dirty="0"/>
                        <a:t>Peng Wang</a:t>
                      </a:r>
                    </a:p>
                    <a:p>
                      <a:r>
                        <a:rPr lang="en-IN" sz="1200" dirty="0"/>
                        <a:t>Cathal Hoare</a:t>
                      </a:r>
                    </a:p>
                    <a:p>
                      <a:r>
                        <a:rPr lang="en-IN" sz="1200" dirty="0"/>
                        <a:t>James O’Donnell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IEEE Internet of Things Journal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Machine learning / deep learning models for detection. Real‑time alerts or classification of criminal </a:t>
                      </a:r>
                      <a:r>
                        <a:rPr lang="en-US" sz="1200" dirty="0" err="1"/>
                        <a:t>behaviour</a:t>
                      </a:r>
                      <a:r>
                        <a:rPr lang="en-US" sz="1200" dirty="0"/>
                        <a:t>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detection rate, precision,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Model dependence on training data quality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527381"/>
                  </a:ext>
                </a:extLst>
              </a:tr>
              <a:tr h="1303959">
                <a:tc>
                  <a:txBody>
                    <a:bodyPr/>
                    <a:lstStyle/>
                    <a:p>
                      <a:r>
                        <a:rPr lang="en-IN" sz="12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hlinkClick r:id="rId4"/>
                        </a:rPr>
                        <a:t>Deep Learning Based Surveillance System for Open Critical Areas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Francesco TurchiniLorenzo SeidenariTiberio UricchioAlberto Del Bimbo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 Inventions (MDPI)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Detecting objects (people, vehicles, etc.) using deep learning models. Tracking their movement through video streams. Counting objects and identifying anomalous behavior.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Object counting and detection accuracy in real‑world challenges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Dependence on video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256020"/>
                  </a:ext>
                </a:extLst>
              </a:tr>
              <a:tr h="1510298">
                <a:tc>
                  <a:txBody>
                    <a:bodyPr/>
                    <a:lstStyle/>
                    <a:p>
                      <a:r>
                        <a:rPr lang="en-IN" sz="12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hlinkClick r:id="rId5"/>
                        </a:rPr>
                        <a:t>Proposed System for Criminal Detection and Recognition on CCTV Data using Cloud and Machine Learning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Samit </a:t>
                      </a:r>
                      <a:r>
                        <a:rPr lang="en-IN" sz="1200" dirty="0" err="1"/>
                        <a:t>Shirsat</a:t>
                      </a:r>
                      <a:r>
                        <a:rPr lang="en-IN" sz="1200" dirty="0"/>
                        <a:t>, Aakash Naik, Darshan </a:t>
                      </a:r>
                      <a:r>
                        <a:rPr lang="en-IN" sz="1200" dirty="0" err="1"/>
                        <a:t>Tamse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Jaysingh</a:t>
                      </a:r>
                      <a:r>
                        <a:rPr lang="en-IN" sz="1200" dirty="0"/>
                        <a:t> Yadav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2019 International Conference on Vision Towards Emerging Trends in Communication and Networking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system uses </a:t>
                      </a:r>
                      <a:r>
                        <a:rPr lang="en-US" sz="1200" b="1" dirty="0"/>
                        <a:t>CCTV cameras and OpenCV-based machine learning algorithms</a:t>
                      </a:r>
                      <a:r>
                        <a:rPr lang="en-US" sz="1200" dirty="0"/>
                        <a:t> to detect and recognize faces. The detected faces are </a:t>
                      </a:r>
                      <a:r>
                        <a:rPr lang="en-US" sz="1200" b="1" dirty="0"/>
                        <a:t>matched with a criminal database stored in the cloud</a:t>
                      </a:r>
                      <a:r>
                        <a:rPr lang="en-US" sz="1200" dirty="0"/>
                        <a:t> to identify criminals automatically.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system solves the problem of </a:t>
                      </a:r>
                      <a:r>
                        <a:rPr lang="en-US" sz="1200" b="1" dirty="0"/>
                        <a:t>slow and inefficient manual monitoring of CCTV footage.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system’s accuracy depends on </a:t>
                      </a:r>
                      <a:r>
                        <a:rPr lang="en-US" sz="1200" b="1" dirty="0"/>
                        <a:t>lighting conditions and image quality</a:t>
                      </a:r>
                      <a:r>
                        <a:rPr lang="en-US" sz="1200" dirty="0"/>
                        <a:t> of CCTV footage.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413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04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FECB5A-83C7-B7D4-21A9-8D6810ADA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224"/>
              </p:ext>
            </p:extLst>
          </p:nvPr>
        </p:nvGraphicFramePr>
        <p:xfrm>
          <a:off x="178905" y="268356"/>
          <a:ext cx="116586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652">
                  <a:extLst>
                    <a:ext uri="{9D8B030D-6E8A-4147-A177-3AD203B41FA5}">
                      <a16:colId xmlns:a16="http://schemas.microsoft.com/office/drawing/2014/main" val="2378346643"/>
                    </a:ext>
                  </a:extLst>
                </a:gridCol>
                <a:gridCol w="844826">
                  <a:extLst>
                    <a:ext uri="{9D8B030D-6E8A-4147-A177-3AD203B41FA5}">
                      <a16:colId xmlns:a16="http://schemas.microsoft.com/office/drawing/2014/main" val="1178560437"/>
                    </a:ext>
                  </a:extLst>
                </a:gridCol>
                <a:gridCol w="1769165">
                  <a:extLst>
                    <a:ext uri="{9D8B030D-6E8A-4147-A177-3AD203B41FA5}">
                      <a16:colId xmlns:a16="http://schemas.microsoft.com/office/drawing/2014/main" val="2951094627"/>
                    </a:ext>
                  </a:extLst>
                </a:gridCol>
                <a:gridCol w="1451113">
                  <a:extLst>
                    <a:ext uri="{9D8B030D-6E8A-4147-A177-3AD203B41FA5}">
                      <a16:colId xmlns:a16="http://schemas.microsoft.com/office/drawing/2014/main" val="638683537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3606910590"/>
                    </a:ext>
                  </a:extLst>
                </a:gridCol>
                <a:gridCol w="2067339">
                  <a:extLst>
                    <a:ext uri="{9D8B030D-6E8A-4147-A177-3AD203B41FA5}">
                      <a16:colId xmlns:a16="http://schemas.microsoft.com/office/drawing/2014/main" val="1826594706"/>
                    </a:ext>
                  </a:extLst>
                </a:gridCol>
                <a:gridCol w="1699592">
                  <a:extLst>
                    <a:ext uri="{9D8B030D-6E8A-4147-A177-3AD203B41FA5}">
                      <a16:colId xmlns:a16="http://schemas.microsoft.com/office/drawing/2014/main" val="1903113525"/>
                    </a:ext>
                  </a:extLst>
                </a:gridCol>
                <a:gridCol w="1808922">
                  <a:extLst>
                    <a:ext uri="{9D8B030D-6E8A-4147-A177-3AD203B41FA5}">
                      <a16:colId xmlns:a16="http://schemas.microsoft.com/office/drawing/2014/main" val="3470507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5.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hlinkClick r:id="rId2"/>
                        </a:rPr>
                        <a:t>A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hlinkClick r:id="rId2"/>
                        </a:rPr>
                        <a:t>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hlinkClick r:id="rId2"/>
                        </a:rPr>
                        <a:t>Lightweight Real-Time CCTV Surveillance Framework for the Education Sector Using Machine Learning.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Naeem Ahmed, Abdullah Alqahtani, Fahad Alotaibi</a:t>
                      </a: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Journal of Advances in Information Technology (JAIT)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CCTV with machine learning (Haar Cascade,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FaceNet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, SVM)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to detect and recognize people in real time.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Provides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automated real-time surveillance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and improves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security by detecting unauthorized persons quickly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Accuracy may reduce due to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poor lighting or image quality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and requires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good dataset and computing resources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65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b="1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Deep Learning Based Smart Surveillance System for Suspicious Activity Detection</a:t>
                      </a:r>
                      <a:endParaRPr lang="en-US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/>
                        <a:t>A. K. Singh, P. K. Singh, and other co-authors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Materials Today: Proceedings (Elsevier / ScienceDirect)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Uses </a:t>
                      </a:r>
                      <a:r>
                        <a:rPr lang="en-US" sz="1200" b="1" dirty="0"/>
                        <a:t>deep learning to analyze CCTV video frames</a:t>
                      </a:r>
                      <a:r>
                        <a:rPr lang="en-US" sz="1200" dirty="0"/>
                        <a:t> and detect suspicious activities automatically.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Reduces </a:t>
                      </a:r>
                      <a:r>
                        <a:rPr lang="en-US" sz="1200" b="1" dirty="0"/>
                        <a:t>manual CCTV monitoring</a:t>
                      </a:r>
                      <a:r>
                        <a:rPr lang="en-US" sz="1200" dirty="0"/>
                        <a:t> and enables </a:t>
                      </a:r>
                      <a:r>
                        <a:rPr lang="en-US" sz="1200" b="1" dirty="0"/>
                        <a:t>automatic detection of suspicious behavior</a:t>
                      </a:r>
                      <a:r>
                        <a:rPr lang="en-US" sz="1200" dirty="0"/>
                        <a:t>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Performance may reduce due to </a:t>
                      </a:r>
                      <a:r>
                        <a:rPr lang="en-US" sz="1200" b="1" dirty="0"/>
                        <a:t>poor video quality</a:t>
                      </a:r>
                      <a:r>
                        <a:rPr lang="en-US" sz="1200" dirty="0"/>
                        <a:t> and requires </a:t>
                      </a:r>
                      <a:r>
                        <a:rPr lang="en-US" sz="1200" b="1" dirty="0"/>
                        <a:t>large datasets and high computation</a:t>
                      </a:r>
                      <a:r>
                        <a:rPr lang="en-US" sz="1200" dirty="0"/>
                        <a:t>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873227"/>
                  </a:ext>
                </a:extLst>
              </a:tr>
              <a:tr h="946657">
                <a:tc>
                  <a:txBody>
                    <a:bodyPr/>
                    <a:lstStyle/>
                    <a:p>
                      <a:r>
                        <a:rPr lang="en-IN" sz="1200" b="1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Design of an Intelligent Video Surveillance System for Crime Prevention: Applying Deep Learning Technology</a:t>
                      </a:r>
                      <a:endParaRPr lang="en-IN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Chang-Soo Sung, Joo-Yeon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Multimedia Tools and Applications (Springer)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Uses </a:t>
                      </a:r>
                      <a:r>
                        <a:rPr lang="en-US" sz="1200" b="1" dirty="0"/>
                        <a:t>deep learning with CCTV video analysis</a:t>
                      </a:r>
                      <a:r>
                        <a:rPr lang="en-US" sz="1200" dirty="0"/>
                        <a:t> to automatically detect suspicious activities and crimes in real time.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Reduces </a:t>
                      </a:r>
                      <a:r>
                        <a:rPr lang="en-US" sz="1200" b="1" dirty="0"/>
                        <a:t>manual CCTV monitoring</a:t>
                      </a:r>
                      <a:r>
                        <a:rPr lang="en-US" sz="1200" dirty="0"/>
                        <a:t> and enables </a:t>
                      </a:r>
                      <a:r>
                        <a:rPr lang="en-US" sz="1200" b="1" dirty="0"/>
                        <a:t>automatic crime detection for faster response</a:t>
                      </a:r>
                      <a:r>
                        <a:rPr lang="en-US" sz="1200" dirty="0"/>
                        <a:t>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Performance may be affected by </a:t>
                      </a:r>
                      <a:r>
                        <a:rPr lang="en-US" sz="1200" b="1" dirty="0"/>
                        <a:t>complex environments and video quality</a:t>
                      </a:r>
                      <a:r>
                        <a:rPr lang="en-US" sz="1200" dirty="0"/>
                        <a:t>, and deep learning models require </a:t>
                      </a:r>
                      <a:r>
                        <a:rPr lang="en-US" sz="1200" b="1" dirty="0"/>
                        <a:t>large training data and high computation</a:t>
                      </a:r>
                      <a:r>
                        <a:rPr lang="en-US" sz="1200" dirty="0"/>
                        <a:t>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592911"/>
                  </a:ext>
                </a:extLst>
              </a:tr>
              <a:tr h="946657">
                <a:tc>
                  <a:txBody>
                    <a:bodyPr/>
                    <a:lstStyle/>
                    <a:p>
                      <a:r>
                        <a:rPr lang="en-IN" sz="1200" b="1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AI-Based Intelligent Video Surveillance System for Security Monitoring</a:t>
                      </a:r>
                      <a:endParaRPr lang="en-US" sz="1200" dirty="0"/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A. Al-Ghamdi, M. Al-Harbi, and other co-authors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Abu Dhabi International Petroleum Exhibition &amp; Conference (ADIPEC)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Uses </a:t>
                      </a:r>
                      <a:r>
                        <a:rPr lang="en-US" sz="1200" b="1" dirty="0"/>
                        <a:t>AI and computer vision to analyze CCTV video streams</a:t>
                      </a:r>
                      <a:r>
                        <a:rPr lang="en-US" sz="1200" dirty="0"/>
                        <a:t> and detect suspicious activities automatically.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Provides </a:t>
                      </a:r>
                      <a:r>
                        <a:rPr lang="en-US" sz="1200" b="1" dirty="0"/>
                        <a:t>real-time automated surveillance</a:t>
                      </a:r>
                      <a:r>
                        <a:rPr lang="en-US" sz="1200" dirty="0"/>
                        <a:t> and reduces </a:t>
                      </a:r>
                      <a:r>
                        <a:rPr lang="en-US" sz="1200" b="1" dirty="0"/>
                        <a:t>manual monitoring effort</a:t>
                      </a:r>
                      <a:r>
                        <a:rPr lang="en-US" sz="1200" dirty="0"/>
                        <a:t>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Performance may depend on </a:t>
                      </a:r>
                      <a:r>
                        <a:rPr lang="en-US" sz="1200" b="1" dirty="0"/>
                        <a:t>video quality and computational resources</a:t>
                      </a:r>
                      <a:r>
                        <a:rPr lang="en-US" sz="1200" dirty="0"/>
                        <a:t>.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36720"/>
                  </a:ext>
                </a:extLst>
              </a:tr>
              <a:tr h="946657">
                <a:tc>
                  <a:txBody>
                    <a:bodyPr/>
                    <a:lstStyle/>
                    <a:p>
                      <a:r>
                        <a:rPr lang="en-IN" sz="12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hlinkClick r:id="rId3"/>
                        </a:rPr>
                        <a:t>Design of a Real-Time Crime Monitoring System Using Deep Learning Techniques</a:t>
                      </a:r>
                      <a:r>
                        <a:rPr lang="en-US" sz="1200" dirty="0">
                          <a:hlinkClick r:id="rId3"/>
                        </a:rPr>
                        <a:t>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Md. Muktadir </a:t>
                      </a:r>
                      <a:r>
                        <a:rPr lang="en-IN" sz="1200" dirty="0" err="1"/>
                        <a:t>Mukto</a:t>
                      </a:r>
                      <a:r>
                        <a:rPr lang="en-IN" sz="1200" dirty="0"/>
                        <a:t>, </a:t>
                      </a:r>
                      <a:r>
                        <a:rPr lang="en-IN" sz="1200" dirty="0" err="1"/>
                        <a:t>Mahamudul</a:t>
                      </a:r>
                      <a:r>
                        <a:rPr lang="en-IN" sz="1200" dirty="0"/>
                        <a:t> Hasan, Md. </a:t>
                      </a:r>
                      <a:r>
                        <a:rPr lang="en-IN" sz="1200" dirty="0" err="1"/>
                        <a:t>Maiyaz</a:t>
                      </a:r>
                      <a:r>
                        <a:rPr lang="en-IN" sz="1200" dirty="0"/>
                        <a:t> Al Mahmud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Intelligent Systems with Applications (Elsevier / ScienceDirect)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Uses </a:t>
                      </a:r>
                      <a:r>
                        <a:rPr lang="en-US" sz="1200" b="1" dirty="0"/>
                        <a:t>deep learning with CCTV surveillance</a:t>
                      </a:r>
                      <a:r>
                        <a:rPr lang="en-US" sz="1200" dirty="0"/>
                        <a:t> to detect crimes in real time through </a:t>
                      </a:r>
                      <a:r>
                        <a:rPr lang="en-US" sz="1200" b="1" dirty="0"/>
                        <a:t>weapon detection, violence detection, and face recognition</a:t>
                      </a:r>
                      <a:r>
                        <a:rPr lang="en-US" sz="1200" dirty="0"/>
                        <a:t>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Automates </a:t>
                      </a:r>
                      <a:r>
                        <a:rPr lang="en-US" sz="1200" b="1" dirty="0"/>
                        <a:t>crime monitoring and reduces human CCTV supervision</a:t>
                      </a:r>
                      <a:r>
                        <a:rPr lang="en-US" sz="1200" dirty="0"/>
                        <a:t> by detecting criminal activities instantly.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 may depend on </a:t>
                      </a:r>
                      <a:r>
                        <a:rPr lang="en-US" sz="1200" b="1" dirty="0"/>
                        <a:t>dataset quality and computational resources</a:t>
                      </a:r>
                      <a:r>
                        <a:rPr lang="en-US" sz="1200" dirty="0"/>
                        <a:t> for deep learning models.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478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1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2C2B-4194-679F-8180-2437079D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C33F910-FF3E-9989-96BE-7B13179FF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2" y="88490"/>
            <a:ext cx="5985774" cy="759565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DATA FLOW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8F5CE-3C5D-B110-D341-258A88C0C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182" y="848055"/>
            <a:ext cx="2581635" cy="59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2317-C2DC-E5BA-753F-B14BBFB6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FC6D274-00D6-8F17-7F1A-6D5E5D34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2" y="88490"/>
            <a:ext cx="5985774" cy="759565"/>
          </a:xfrm>
        </p:spPr>
        <p:txBody>
          <a:bodyPr anchor="b">
            <a:normAutofit fontScale="90000"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2D2F3-E39C-588C-5D91-78D8B3C3F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782" y="1038179"/>
            <a:ext cx="8154044" cy="55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07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1011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Aparajita</vt:lpstr>
      <vt:lpstr>Arial</vt:lpstr>
      <vt:lpstr>Arial Black</vt:lpstr>
      <vt:lpstr>Arimo</vt:lpstr>
      <vt:lpstr>Calibri</vt:lpstr>
      <vt:lpstr>Calibri Light</vt:lpstr>
      <vt:lpstr>Times New Roman</vt:lpstr>
      <vt:lpstr>Wingdings</vt:lpstr>
      <vt:lpstr>Office Theme</vt:lpstr>
      <vt:lpstr>PowerPoint Presentation</vt:lpstr>
      <vt:lpstr>GROUP MEMBERS</vt:lpstr>
      <vt:lpstr>PROBLEM STATEMENT</vt:lpstr>
      <vt:lpstr>OBJECTIVES</vt:lpstr>
      <vt:lpstr>PowerPoint Presentation</vt:lpstr>
      <vt:lpstr>PowerPoint Presentation</vt:lpstr>
      <vt:lpstr>DATA FLOW DIAGRAM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 Kedar</dc:creator>
  <cp:lastModifiedBy>Tanish Jadhav</cp:lastModifiedBy>
  <cp:revision>15</cp:revision>
  <dcterms:created xsi:type="dcterms:W3CDTF">2025-03-29T06:29:22Z</dcterms:created>
  <dcterms:modified xsi:type="dcterms:W3CDTF">2026-04-27T17:12:10Z</dcterms:modified>
</cp:coreProperties>
</file>